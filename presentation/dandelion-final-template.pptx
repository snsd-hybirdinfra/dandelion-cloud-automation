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NDELION_BLANK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502920"/>
            <a:ext cx="1828800" cy="685800"/>
          </a:xfrm>
          <a:prstGeom prst="line">
            <a:avLst/>
          </a:prstGeom>
          <a:noFill/>
          <a:ln w="13970">
            <a:solidFill>
              <a:srgbClr val="38BDF8">
                <a:alpha val="5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1188720"/>
            <a:ext cx="1508760" cy="960120"/>
          </a:xfrm>
          <a:prstGeom prst="line">
            <a:avLst/>
          </a:prstGeom>
          <a:noFill/>
          <a:ln w="13970">
            <a:solidFill>
              <a:srgbClr val="38BDF8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0" y="2560320"/>
            <a:ext cx="1645920" cy="-365760"/>
          </a:xfrm>
          <a:prstGeom prst="line">
            <a:avLst/>
          </a:prstGeom>
          <a:noFill/>
          <a:ln w="13970">
            <a:solidFill>
              <a:srgbClr val="38BDF8">
                <a:alpha val="5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49840" y="2194560"/>
            <a:ext cx="1097280" cy="1097280"/>
          </a:xfrm>
          <a:prstGeom prst="line">
            <a:avLst/>
          </a:prstGeom>
          <a:noFill/>
          <a:ln w="13970">
            <a:solidFill>
              <a:srgbClr val="38BDF8">
                <a:alpha val="5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92440" y="4251960"/>
            <a:ext cx="1325880" cy="-594360"/>
          </a:xfrm>
          <a:prstGeom prst="line">
            <a:avLst/>
          </a:prstGeom>
          <a:noFill/>
          <a:ln w="13970">
            <a:solidFill>
              <a:srgbClr val="38BDF8">
                <a:alpha val="5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18320" y="3657600"/>
            <a:ext cx="1828800" cy="228600"/>
          </a:xfrm>
          <a:prstGeom prst="line">
            <a:avLst/>
          </a:prstGeom>
          <a:noFill/>
          <a:ln w="13970">
            <a:solidFill>
              <a:srgbClr val="38BDF8">
                <a:alpha val="5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12680" y="5349240"/>
            <a:ext cx="1325880" cy="-1463040"/>
          </a:xfrm>
          <a:prstGeom prst="line">
            <a:avLst/>
          </a:prstGeom>
          <a:noFill/>
          <a:ln w="13970">
            <a:solidFill>
              <a:srgbClr val="38BDF8">
                <a:alpha val="5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06640" y="411480"/>
            <a:ext cx="164592" cy="164592"/>
          </a:xfrm>
          <a:prstGeom prst="ellipse">
            <a:avLst/>
          </a:prstGeom>
          <a:solidFill>
            <a:srgbClr val="38BDF8"/>
          </a:solidFill>
          <a:ln w="8890">
            <a:solidFill>
              <a:srgbClr val="F8FAFC">
                <a:alpha val="7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235440" y="1097280"/>
            <a:ext cx="237744" cy="237744"/>
          </a:xfrm>
          <a:prstGeom prst="ellipse">
            <a:avLst/>
          </a:prstGeom>
          <a:solidFill>
            <a:srgbClr val="38BDF8"/>
          </a:solidFill>
          <a:ln w="8890">
            <a:solidFill>
              <a:srgbClr val="F8FAFC">
                <a:alpha val="7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16768" y="2029968"/>
            <a:ext cx="164592" cy="164592"/>
          </a:xfrm>
          <a:prstGeom prst="ellipse">
            <a:avLst/>
          </a:prstGeom>
          <a:solidFill>
            <a:srgbClr val="38BDF8"/>
          </a:solidFill>
          <a:ln w="8890">
            <a:solidFill>
              <a:srgbClr val="F8FAFC">
                <a:alpha val="7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94192" y="2468880"/>
            <a:ext cx="201168" cy="201168"/>
          </a:xfrm>
          <a:prstGeom prst="ellipse">
            <a:avLst/>
          </a:prstGeom>
          <a:solidFill>
            <a:srgbClr val="38BDF8"/>
          </a:solidFill>
          <a:ln w="8890">
            <a:solidFill>
              <a:srgbClr val="F8FAFC">
                <a:alpha val="7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0" y="2103120"/>
            <a:ext cx="256032" cy="256032"/>
          </a:xfrm>
          <a:prstGeom prst="ellipse">
            <a:avLst/>
          </a:prstGeom>
          <a:solidFill>
            <a:srgbClr val="38BDF8"/>
          </a:solidFill>
          <a:ln w="8890">
            <a:solidFill>
              <a:srgbClr val="F8FAFC">
                <a:alpha val="7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173968" y="3218688"/>
            <a:ext cx="182880" cy="182880"/>
          </a:xfrm>
          <a:prstGeom prst="ellipse">
            <a:avLst/>
          </a:prstGeom>
          <a:solidFill>
            <a:srgbClr val="38BDF8"/>
          </a:solidFill>
          <a:ln w="8890">
            <a:solidFill>
              <a:srgbClr val="F8FAFC">
                <a:alpha val="7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01000" y="4160520"/>
            <a:ext cx="182880" cy="182880"/>
          </a:xfrm>
          <a:prstGeom prst="ellipse">
            <a:avLst/>
          </a:prstGeom>
          <a:solidFill>
            <a:srgbClr val="38BDF8"/>
          </a:solidFill>
          <a:ln w="8890">
            <a:solidFill>
              <a:srgbClr val="F8FAFC">
                <a:alpha val="7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45168" y="3547872"/>
            <a:ext cx="219456" cy="219456"/>
          </a:xfrm>
          <a:prstGeom prst="ellipse">
            <a:avLst/>
          </a:prstGeom>
          <a:solidFill>
            <a:srgbClr val="38BDF8"/>
          </a:solidFill>
          <a:ln w="8890">
            <a:solidFill>
              <a:srgbClr val="F8FAFC">
                <a:alpha val="7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173968" y="3794760"/>
            <a:ext cx="164592" cy="164592"/>
          </a:xfrm>
          <a:prstGeom prst="ellipse">
            <a:avLst/>
          </a:prstGeom>
          <a:solidFill>
            <a:srgbClr val="38BDF8"/>
          </a:solidFill>
          <a:ln w="8890">
            <a:solidFill>
              <a:srgbClr val="F8FAFC">
                <a:alpha val="7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921240" y="5257800"/>
            <a:ext cx="219456" cy="219456"/>
          </a:xfrm>
          <a:prstGeom prst="ellipse">
            <a:avLst/>
          </a:prstGeom>
          <a:solidFill>
            <a:srgbClr val="38BDF8"/>
          </a:solidFill>
          <a:ln w="8890">
            <a:solidFill>
              <a:srgbClr val="F8FAFC">
                <a:alpha val="7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1080000">
            <a:off x="7315200" y="1143000"/>
            <a:ext cx="4023360" cy="3977640"/>
          </a:xfrm>
          <a:prstGeom prst="arc">
            <a:avLst/>
          </a:prstGeom>
          <a:solidFill>
            <a:srgbClr val="0F172A">
              <a:alpha val="0"/>
            </a:srgbClr>
          </a:solidFill>
          <a:ln w="15240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920" y="4114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 표지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738360" y="384048"/>
            <a:ext cx="1993392" cy="365760"/>
          </a:xfrm>
          <a:prstGeom prst="roundRect">
            <a:avLst>
              <a:gd name="adj" fmla="val 20000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738360" y="393192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[완료] FINAL REPORT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94360" y="126187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TEAM DANDELION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1664208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Cloud Automation</a:t>
            </a:r>
            <a:endParaRPr lang="en-US" sz="5400" dirty="0"/>
          </a:p>
          <a:p>
            <a:pPr algn="l" indent="0" marL="0">
              <a:buNone/>
            </a:pPr>
            <a:r>
              <a:rPr lang="en-US" sz="54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Final Report</a:t>
            </a:r>
            <a:endParaRPr lang="en-US" sz="5400" dirty="0"/>
          </a:p>
        </p:txBody>
      </p:sp>
      <p:sp>
        <p:nvSpPr>
          <p:cNvPr id="25" name="Text 23"/>
          <p:cNvSpPr txBox="1"/>
          <p:nvPr/>
        </p:nvSpPr>
        <p:spPr>
          <a:xfrm>
            <a:off x="603504" y="3310128"/>
            <a:ext cx="6172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Cloud Operations Command Center</a:t>
            </a:r>
            <a:endParaRPr lang="en-US" sz="2600" dirty="0"/>
          </a:p>
        </p:txBody>
      </p:sp>
      <p:sp>
        <p:nvSpPr>
          <p:cNvPr id="26" name="Shape 24"/>
          <p:cNvSpPr/>
          <p:nvPr/>
        </p:nvSpPr>
        <p:spPr>
          <a:xfrm>
            <a:off x="603504" y="3931920"/>
            <a:ext cx="5257800" cy="0"/>
          </a:xfrm>
          <a:prstGeom prst="line">
            <a:avLst/>
          </a:prstGeom>
          <a:noFill/>
          <a:ln w="27940">
            <a:solidFill>
              <a:srgbClr val="38BDF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03504" y="416052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정주헌  ·  백서빈  ·  이진욱  ·  조민석  ·  박재우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603504" y="471830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결과보고서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411480" y="6190488"/>
            <a:ext cx="11365992" cy="0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38912" y="630021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MESSAGE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737360" y="6263640"/>
            <a:ext cx="8275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자동화·운영·검증 결과를 하나의 흐름으로 연결했습니다.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10104120" y="629107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DANDELION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11475720" y="6291072"/>
            <a:ext cx="301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8229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84048" y="16459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91440"/>
            <a:ext cx="8732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spc="-30" kern="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목차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9948672" y="210312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948672" y="21945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FINAL REPORT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12064" y="1170432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결과를 이해하는 순서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512064" y="1609344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문제와 설계가 역할별 실행을 거쳐 검증 가능한 성과로 이어집니다.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78992" y="2926080"/>
            <a:ext cx="10040112" cy="0"/>
          </a:xfrm>
          <a:prstGeom prst="line">
            <a:avLst/>
          </a:prstGeom>
          <a:noFill/>
          <a:ln w="2794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4712" y="2487168"/>
            <a:ext cx="877824" cy="877824"/>
          </a:xfrm>
          <a:prstGeom prst="ellipse">
            <a:avLst/>
          </a:prstGeom>
          <a:solidFill>
            <a:srgbClr val="3B82F6"/>
          </a:solidFill>
          <a:ln w="31750">
            <a:solidFill>
              <a:srgbClr val="F8FAF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24712" y="2496312"/>
            <a:ext cx="87782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813816" y="3657600"/>
            <a:ext cx="1499616" cy="329184"/>
          </a:xfrm>
          <a:prstGeom prst="roundRect">
            <a:avLst>
              <a:gd name="adj" fmla="val 22222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3816" y="3666744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[완료] 03–05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" y="415137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이해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438912" y="4626864"/>
            <a:ext cx="2249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정의 · 아키텍처 · 일정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014216" y="2487168"/>
            <a:ext cx="877824" cy="877824"/>
          </a:xfrm>
          <a:prstGeom prst="ellipse">
            <a:avLst/>
          </a:prstGeom>
          <a:solidFill>
            <a:srgbClr val="06B6D4"/>
          </a:solidFill>
          <a:ln w="31750">
            <a:solidFill>
              <a:srgbClr val="F8FAF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014216" y="2496312"/>
            <a:ext cx="87782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3703320" y="3657600"/>
            <a:ext cx="1499616" cy="329184"/>
          </a:xfrm>
          <a:prstGeom prst="roundRect">
            <a:avLst>
              <a:gd name="adj" fmla="val 22222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703320" y="3666744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[완료] 06–10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3493008" y="415137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역할별 수행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3328416" y="4626864"/>
            <a:ext cx="2249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담당자별 결과와 기술 증빙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903720" y="2487168"/>
            <a:ext cx="877824" cy="877824"/>
          </a:xfrm>
          <a:prstGeom prst="ellipse">
            <a:avLst/>
          </a:prstGeom>
          <a:solidFill>
            <a:srgbClr val="10B981"/>
          </a:solidFill>
          <a:ln w="31750">
            <a:solidFill>
              <a:srgbClr val="F8FAF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903720" y="2496312"/>
            <a:ext cx="87782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</a:t>
            </a:r>
            <a:endParaRPr lang="en-US" sz="2600" dirty="0"/>
          </a:p>
        </p:txBody>
      </p:sp>
      <p:sp>
        <p:nvSpPr>
          <p:cNvPr id="25" name="Shape 23"/>
          <p:cNvSpPr/>
          <p:nvPr/>
        </p:nvSpPr>
        <p:spPr>
          <a:xfrm>
            <a:off x="6592824" y="3657600"/>
            <a:ext cx="1499616" cy="329184"/>
          </a:xfrm>
          <a:prstGeom prst="roundRect">
            <a:avLst>
              <a:gd name="adj" fmla="val 22222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92824" y="3666744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[완료] 11–15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382512" y="415137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구현·운영 결과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6217920" y="4626864"/>
            <a:ext cx="2249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자동화 · 관측 · 복구 · 검증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9793224" y="2487168"/>
            <a:ext cx="877824" cy="877824"/>
          </a:xfrm>
          <a:prstGeom prst="ellipse">
            <a:avLst/>
          </a:prstGeom>
          <a:solidFill>
            <a:srgbClr val="F97316"/>
          </a:solidFill>
          <a:ln w="31750">
            <a:solidFill>
              <a:srgbClr val="F8FAF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793224" y="2496312"/>
            <a:ext cx="87782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</a:t>
            </a:r>
            <a:endParaRPr lang="en-US" sz="2600" dirty="0"/>
          </a:p>
        </p:txBody>
      </p:sp>
      <p:sp>
        <p:nvSpPr>
          <p:cNvPr id="31" name="Shape 29"/>
          <p:cNvSpPr/>
          <p:nvPr/>
        </p:nvSpPr>
        <p:spPr>
          <a:xfrm>
            <a:off x="9482328" y="3657600"/>
            <a:ext cx="1499616" cy="329184"/>
          </a:xfrm>
          <a:prstGeom prst="roundRect">
            <a:avLst>
              <a:gd name="adj" fmla="val 22222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482328" y="3666744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[완료] 16–18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272016" y="415137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성과·평가</a:t>
            </a:r>
            <a:endParaRPr lang="en-US" sz="2200" dirty="0"/>
          </a:p>
        </p:txBody>
      </p:sp>
      <p:sp>
        <p:nvSpPr>
          <p:cNvPr id="34" name="Text 32"/>
          <p:cNvSpPr txBox="1"/>
          <p:nvPr/>
        </p:nvSpPr>
        <p:spPr>
          <a:xfrm>
            <a:off x="9107424" y="4626864"/>
            <a:ext cx="2249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 · 자체 평가 · Q&amp;A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411480" y="6190488"/>
            <a:ext cx="11365992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38912" y="630021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MESSAGE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1737360" y="6263640"/>
            <a:ext cx="8275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정의부터 통합 검증까지, 결과 중심으로 보고합니다.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10104120" y="629107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DANDELION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11475720" y="6291072"/>
            <a:ext cx="301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8229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84048" y="16459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91440"/>
            <a:ext cx="8732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spc="-30" kern="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개요 / 문제 정의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9948672" y="210312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948672" y="21945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12064" y="1078992"/>
            <a:ext cx="4754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 작업은 속도보다 일관성을 먼저 무너뜨립니다.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30352" y="212140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" y="212140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수작업 반복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267712" y="212140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동일 작업의 결과 편차와 재현성 저하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05840" y="2688336"/>
            <a:ext cx="40965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0352" y="296265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024128" y="2962656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구성 분산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2267712" y="2962656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인프라·서비스·DB 설정 기준의 단절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05840" y="3529584"/>
            <a:ext cx="40965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0352" y="380390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024128" y="3803904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근거 부족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2267712" y="3803904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장애·백업·복구 결과를 설명할 증빙 부족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05840" y="4370832"/>
            <a:ext cx="40965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58384" y="1078992"/>
            <a:ext cx="6419088" cy="3200400"/>
          </a:xfrm>
          <a:prstGeom prst="roundRect">
            <a:avLst>
              <a:gd name="adj" fmla="val 2286"/>
            </a:avLst>
          </a:prstGeom>
          <a:solidFill>
            <a:srgbClr val="F1F5F9"/>
          </a:solidFill>
          <a:ln w="17145">
            <a:solidFill>
              <a:srgbClr val="3B82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58384" y="1078992"/>
            <a:ext cx="73152" cy="32004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596128" y="1207008"/>
            <a:ext cx="5001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문제–해결 매핑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10789920" y="1207008"/>
            <a:ext cx="768096" cy="292608"/>
          </a:xfrm>
          <a:prstGeom prst="roundRect">
            <a:avLst>
              <a:gd name="adj" fmla="val 250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789920" y="1216152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[완료]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650992" y="2423160"/>
            <a:ext cx="5833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비교 표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5650992" y="3767328"/>
            <a:ext cx="5833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· 자동화 접근 · 기대 효과 · 최종 근거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12064" y="4572000"/>
            <a:ext cx="11265408" cy="1298448"/>
          </a:xfrm>
          <a:prstGeom prst="roundRect">
            <a:avLst>
              <a:gd name="adj" fmla="val 5634"/>
            </a:avLst>
          </a:prstGeom>
          <a:solidFill>
            <a:srgbClr val="F1F5F9"/>
          </a:solidFill>
          <a:ln w="17145">
            <a:solidFill>
              <a:srgbClr val="3B82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2064" y="4572000"/>
            <a:ext cx="73152" cy="12984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49808" y="4700016"/>
            <a:ext cx="9848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범위 및 목표 지표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0789920" y="4700016"/>
            <a:ext cx="768096" cy="292608"/>
          </a:xfrm>
          <a:prstGeom prst="roundRect">
            <a:avLst>
              <a:gd name="adj" fmla="val 250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789920" y="4709160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[완료]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804672" y="5117348"/>
            <a:ext cx="10680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범위·지표 요약</a:t>
            </a:r>
            <a:endParaRPr lang="en-US" sz="2000" dirty="0"/>
          </a:p>
        </p:txBody>
      </p:sp>
      <p:sp>
        <p:nvSpPr>
          <p:cNvPr id="34" name="Text 32"/>
          <p:cNvSpPr txBox="1"/>
          <p:nvPr/>
        </p:nvSpPr>
        <p:spPr>
          <a:xfrm>
            <a:off x="804672" y="535838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OpenStack · Service / DB · Ansible · Monitoring · Backup / DR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11480" y="6190488"/>
            <a:ext cx="11365992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38912" y="630021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MESSAGE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1737360" y="6263640"/>
            <a:ext cx="8275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 작업과 운영 가시성 부족을 자동화와 표준화로 해결했습니다.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10104120" y="629107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DANDELION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11475720" y="6291072"/>
            <a:ext cx="301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8229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84048" y="16459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91440"/>
            <a:ext cx="8732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spc="-30" kern="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아키텍처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9948672" y="210312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948672" y="21945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12064" y="1078992"/>
            <a:ext cx="11265408" cy="4791456"/>
          </a:xfrm>
          <a:prstGeom prst="roundRect">
            <a:avLst>
              <a:gd name="adj" fmla="val 1527"/>
            </a:avLst>
          </a:prstGeom>
          <a:solidFill>
            <a:srgbClr val="F1F5F9"/>
          </a:solidFill>
          <a:ln w="17145">
            <a:solidFill>
              <a:srgbClr val="3B8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" y="1078992"/>
            <a:ext cx="73152" cy="47914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1207008"/>
            <a:ext cx="9848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Cloud Operations Command Center 아키텍처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789920" y="1207008"/>
            <a:ext cx="768096" cy="292608"/>
          </a:xfrm>
          <a:prstGeom prst="roundRect">
            <a:avLst>
              <a:gd name="adj" fmla="val 250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789920" y="1216152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[완료]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04672" y="3091404"/>
            <a:ext cx="10680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아키텍처 다이어그램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804672" y="535838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요청 → Ansible → OpenStack → Service / DB → Monitoring / Backup / Validation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50392" y="5010912"/>
            <a:ext cx="1700784" cy="347472"/>
          </a:xfrm>
          <a:prstGeom prst="roundRect">
            <a:avLst>
              <a:gd name="adj" fmla="val 21053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50392" y="5020056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Control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999232" y="5010912"/>
            <a:ext cx="1700784" cy="347472"/>
          </a:xfrm>
          <a:prstGeom prst="roundRect">
            <a:avLst>
              <a:gd name="adj" fmla="val 21053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999232" y="5020056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Cloud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148072" y="5010912"/>
            <a:ext cx="1700784" cy="347472"/>
          </a:xfrm>
          <a:prstGeom prst="roundRect">
            <a:avLst>
              <a:gd name="adj" fmla="val 21053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148072" y="5020056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Service / DB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296912" y="5010912"/>
            <a:ext cx="1700784" cy="347472"/>
          </a:xfrm>
          <a:prstGeom prst="roundRect">
            <a:avLst>
              <a:gd name="adj" fmla="val 2105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296912" y="5020056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Automation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445752" y="5010912"/>
            <a:ext cx="1700784" cy="347472"/>
          </a:xfrm>
          <a:prstGeom prst="roundRect">
            <a:avLst>
              <a:gd name="adj" fmla="val 21053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445752" y="5020056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Operations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11480" y="6190488"/>
            <a:ext cx="11365992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38912" y="630021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MESSAGE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737360" y="6263640"/>
            <a:ext cx="8275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프로비저닝·구성·관측·복구가 하나의 운영 체계로 연결됩니다.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10104120" y="629107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DANDELION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11475720" y="6291072"/>
            <a:ext cx="301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8229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84048" y="16459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91440"/>
            <a:ext cx="8732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spc="-30" kern="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 절차 및 일정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9948672" y="210312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948672" y="21945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DELIVERY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12064" y="111556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 기준이 각 자동화 단계의 완료 조건을 결정했습니다.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1051560" y="2770632"/>
            <a:ext cx="10058400" cy="0"/>
          </a:xfrm>
          <a:prstGeom prst="line">
            <a:avLst/>
          </a:prstGeom>
          <a:noFill/>
          <a:ln w="2794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078992" y="2340864"/>
            <a:ext cx="859536" cy="859536"/>
          </a:xfrm>
          <a:prstGeom prst="ellipse">
            <a:avLst/>
          </a:prstGeom>
          <a:solidFill>
            <a:srgbClr val="3B82F6"/>
          </a:solidFill>
          <a:ln w="27940">
            <a:solidFill>
              <a:srgbClr val="F8FAF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78992" y="2350008"/>
            <a:ext cx="8595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3401568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요구사항 정리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88136" y="3913632"/>
            <a:ext cx="841248" cy="310896"/>
          </a:xfrm>
          <a:prstGeom prst="roundRect">
            <a:avLst>
              <a:gd name="adj" fmla="val 23529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88136" y="3922776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[완료]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383280" y="2340864"/>
            <a:ext cx="859536" cy="859536"/>
          </a:xfrm>
          <a:prstGeom prst="ellipse">
            <a:avLst/>
          </a:prstGeom>
          <a:solidFill>
            <a:srgbClr val="3B82F6"/>
          </a:solidFill>
          <a:ln w="27940">
            <a:solidFill>
              <a:srgbClr val="F8FAF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383280" y="2350008"/>
            <a:ext cx="8595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2962656" y="3401568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아키텍처 설계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392424" y="3913632"/>
            <a:ext cx="841248" cy="310896"/>
          </a:xfrm>
          <a:prstGeom prst="roundRect">
            <a:avLst>
              <a:gd name="adj" fmla="val 23529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392424" y="3922776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[완료]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687568" y="2340864"/>
            <a:ext cx="859536" cy="859536"/>
          </a:xfrm>
          <a:prstGeom prst="ellipse">
            <a:avLst/>
          </a:prstGeom>
          <a:solidFill>
            <a:srgbClr val="06B6D4"/>
          </a:solidFill>
          <a:ln w="27940">
            <a:solidFill>
              <a:srgbClr val="F8FAF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87568" y="2350008"/>
            <a:ext cx="8595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5266944" y="3401568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인프라 배포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696712" y="3913632"/>
            <a:ext cx="841248" cy="310896"/>
          </a:xfrm>
          <a:prstGeom prst="roundRect">
            <a:avLst>
              <a:gd name="adj" fmla="val 23529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696712" y="3922776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[완료]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991856" y="2340864"/>
            <a:ext cx="859536" cy="859536"/>
          </a:xfrm>
          <a:prstGeom prst="ellipse">
            <a:avLst/>
          </a:prstGeom>
          <a:solidFill>
            <a:srgbClr val="10B981"/>
          </a:solidFill>
          <a:ln w="27940">
            <a:solidFill>
              <a:srgbClr val="F8FAF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991856" y="2350008"/>
            <a:ext cx="8595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7571232" y="3401568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구성 자동화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8001000" y="3913632"/>
            <a:ext cx="841248" cy="310896"/>
          </a:xfrm>
          <a:prstGeom prst="roundRect">
            <a:avLst>
              <a:gd name="adj" fmla="val 23529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001000" y="3922776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[완료]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0296144" y="2340864"/>
            <a:ext cx="859536" cy="859536"/>
          </a:xfrm>
          <a:prstGeom prst="ellipse">
            <a:avLst/>
          </a:prstGeom>
          <a:solidFill>
            <a:srgbClr val="F97316"/>
          </a:solidFill>
          <a:ln w="27940">
            <a:solidFill>
              <a:srgbClr val="F8FAF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296144" y="2350008"/>
            <a:ext cx="8595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9875520" y="3401568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 검증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0305288" y="3913632"/>
            <a:ext cx="841248" cy="310896"/>
          </a:xfrm>
          <a:prstGeom prst="roundRect">
            <a:avLst>
              <a:gd name="adj" fmla="val 23529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305288" y="3922776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[완료]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12064" y="4608576"/>
            <a:ext cx="11265408" cy="1261872"/>
          </a:xfrm>
          <a:prstGeom prst="roundRect">
            <a:avLst>
              <a:gd name="adj" fmla="val 5797"/>
            </a:avLst>
          </a:prstGeom>
          <a:solidFill>
            <a:srgbClr val="F1F5F9"/>
          </a:solidFill>
          <a:ln w="17145">
            <a:solidFill>
              <a:srgbClr val="3B82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2064" y="4608576"/>
            <a:ext cx="73152" cy="12618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49808" y="4736592"/>
            <a:ext cx="9848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일정 · 마일스톤 · 산출물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0789920" y="4736592"/>
            <a:ext cx="768096" cy="292608"/>
          </a:xfrm>
          <a:prstGeom prst="roundRect">
            <a:avLst>
              <a:gd name="adj" fmla="val 250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789920" y="4745736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[완료]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804672" y="5138562"/>
            <a:ext cx="10680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 결과 표</a:t>
            </a:r>
            <a:endParaRPr lang="en-US" sz="2000" dirty="0"/>
          </a:p>
        </p:txBody>
      </p:sp>
      <p:sp>
        <p:nvSpPr>
          <p:cNvPr id="41" name="Text 39"/>
          <p:cNvSpPr txBox="1"/>
          <p:nvPr/>
        </p:nvSpPr>
        <p:spPr>
          <a:xfrm>
            <a:off x="804672" y="535838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 · 담당 · 완료 조건 · 증빙 링크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11480" y="6190488"/>
            <a:ext cx="11365992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38912" y="630021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MESSAGE</a:t>
            </a:r>
            <a:endParaRPr lang="en-US" sz="1600" dirty="0"/>
          </a:p>
        </p:txBody>
      </p:sp>
      <p:sp>
        <p:nvSpPr>
          <p:cNvPr id="44" name="Text 42"/>
          <p:cNvSpPr txBox="1"/>
          <p:nvPr/>
        </p:nvSpPr>
        <p:spPr>
          <a:xfrm>
            <a:off x="1737360" y="6263640"/>
            <a:ext cx="8275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설계부터 통합 검증까지 모든 수행 단계를 [완료]했습니다.</a:t>
            </a:r>
            <a:endParaRPr lang="en-US" sz="1800" dirty="0"/>
          </a:p>
        </p:txBody>
      </p:sp>
      <p:sp>
        <p:nvSpPr>
          <p:cNvPr id="45" name="Text 43"/>
          <p:cNvSpPr txBox="1"/>
          <p:nvPr/>
        </p:nvSpPr>
        <p:spPr>
          <a:xfrm>
            <a:off x="10104120" y="629107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DANDELION</a:t>
            </a:r>
            <a:endParaRPr lang="en-US" sz="1600" dirty="0"/>
          </a:p>
        </p:txBody>
      </p:sp>
      <p:sp>
        <p:nvSpPr>
          <p:cNvPr id="46" name="Text 44"/>
          <p:cNvSpPr txBox="1"/>
          <p:nvPr/>
        </p:nvSpPr>
        <p:spPr>
          <a:xfrm>
            <a:off x="11475720" y="6291072"/>
            <a:ext cx="301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8229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84048" y="16459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91440"/>
            <a:ext cx="8732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spc="-30" kern="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 / Architecture · 정주헌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9948672" y="210312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948672" y="21945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 / ARCH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11480" y="1078992"/>
            <a:ext cx="109728" cy="48006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1170432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정주헌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1627632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 / Architecture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49808" y="2057400"/>
            <a:ext cx="1572768" cy="347472"/>
          </a:xfrm>
          <a:prstGeom prst="roundRect">
            <a:avLst>
              <a:gd name="adj" fmla="val 21053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206654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[완료] 역할 수행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49808" y="2596896"/>
            <a:ext cx="2697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기준을 먼저 정의하고 역할 간 결과를 하나의 구조로 정렬했습니다.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749808" y="426110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책임 범위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68096" y="4690872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87552" y="459028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 기준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68096" y="5084064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87552" y="498348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아키텍처 정합성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768096" y="5477256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87552" y="537667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 일정·검증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3657600" y="1078992"/>
            <a:ext cx="3877056" cy="4800600"/>
          </a:xfrm>
          <a:prstGeom prst="roundRect">
            <a:avLst>
              <a:gd name="adj" fmla="val 1887"/>
            </a:avLst>
          </a:prstGeom>
          <a:solidFill>
            <a:srgbClr val="F1F5F9"/>
          </a:solidFill>
          <a:ln w="17145">
            <a:solidFill>
              <a:srgbClr val="3B82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0" y="1078992"/>
            <a:ext cx="73152" cy="48006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895344" y="1207008"/>
            <a:ext cx="2459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 아키텍처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547104" y="1207008"/>
            <a:ext cx="768096" cy="292608"/>
          </a:xfrm>
          <a:prstGeom prst="roundRect">
            <a:avLst>
              <a:gd name="adj" fmla="val 250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47104" y="1216152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[완료]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3950208" y="309524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 결과 캡처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3950208" y="536752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화면 · 구성도 · 실행 결과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790688" y="1078992"/>
            <a:ext cx="3986784" cy="2276856"/>
          </a:xfrm>
          <a:prstGeom prst="roundRect">
            <a:avLst>
              <a:gd name="adj" fmla="val 3213"/>
            </a:avLst>
          </a:prstGeom>
          <a:solidFill>
            <a:srgbClr val="F1F5F9"/>
          </a:solidFill>
          <a:ln w="17145">
            <a:solidFill>
              <a:srgbClr val="3B82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90688" y="1078992"/>
            <a:ext cx="73152" cy="22768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028432" y="1207008"/>
            <a:ext cx="2569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 근거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10789920" y="1207008"/>
            <a:ext cx="768096" cy="292608"/>
          </a:xfrm>
          <a:prstGeom prst="roundRect">
            <a:avLst>
              <a:gd name="adj" fmla="val 250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789920" y="1216152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[완료]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8083296" y="2035272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증빙</a:t>
            </a:r>
            <a:endParaRPr lang="en-US" sz="2400" dirty="0"/>
          </a:p>
        </p:txBody>
      </p:sp>
      <p:sp>
        <p:nvSpPr>
          <p:cNvPr id="34" name="Text 32"/>
          <p:cNvSpPr txBox="1"/>
          <p:nvPr/>
        </p:nvSpPr>
        <p:spPr>
          <a:xfrm>
            <a:off x="8083296" y="2843784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설정 · 코드 · 운영 화면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790688" y="3602736"/>
            <a:ext cx="3986784" cy="2276856"/>
          </a:xfrm>
          <a:prstGeom prst="roundRect">
            <a:avLst>
              <a:gd name="adj" fmla="val 3213"/>
            </a:avLst>
          </a:prstGeom>
          <a:solidFill>
            <a:srgbClr val="F1F5F9"/>
          </a:solidFill>
          <a:ln w="17145">
            <a:solidFill>
              <a:srgbClr val="3B82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90688" y="3602736"/>
            <a:ext cx="73152" cy="22768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028432" y="3730752"/>
            <a:ext cx="2569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 검증 기준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10789920" y="3730752"/>
            <a:ext cx="768096" cy="292608"/>
          </a:xfrm>
          <a:prstGeom prst="roundRect">
            <a:avLst>
              <a:gd name="adj" fmla="val 250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789920" y="3739896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[완료]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8083296" y="4559016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 증빙</a:t>
            </a:r>
            <a:endParaRPr lang="en-US" sz="2400" dirty="0"/>
          </a:p>
        </p:txBody>
      </p:sp>
      <p:sp>
        <p:nvSpPr>
          <p:cNvPr id="41" name="Text 39"/>
          <p:cNvSpPr txBox="1"/>
          <p:nvPr/>
        </p:nvSpPr>
        <p:spPr>
          <a:xfrm>
            <a:off x="8083296" y="5367528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· 로그 · 결과 표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11480" y="6190488"/>
            <a:ext cx="11365992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38912" y="630021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MESSAGE</a:t>
            </a:r>
            <a:endParaRPr lang="en-US" sz="1600" dirty="0"/>
          </a:p>
        </p:txBody>
      </p:sp>
      <p:sp>
        <p:nvSpPr>
          <p:cNvPr id="44" name="Text 42"/>
          <p:cNvSpPr txBox="1"/>
          <p:nvPr/>
        </p:nvSpPr>
        <p:spPr>
          <a:xfrm>
            <a:off x="1737360" y="6263640"/>
            <a:ext cx="8275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아키텍처 기준과 역할 간 인터페이스를 일관되게 정렬했습니다.</a:t>
            </a:r>
            <a:endParaRPr lang="en-US" sz="1800" dirty="0"/>
          </a:p>
        </p:txBody>
      </p:sp>
      <p:sp>
        <p:nvSpPr>
          <p:cNvPr id="45" name="Text 43"/>
          <p:cNvSpPr txBox="1"/>
          <p:nvPr/>
        </p:nvSpPr>
        <p:spPr>
          <a:xfrm>
            <a:off x="10104120" y="629107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DANDELION</a:t>
            </a:r>
            <a:endParaRPr lang="en-US" sz="1600" dirty="0"/>
          </a:p>
        </p:txBody>
      </p:sp>
      <p:sp>
        <p:nvSpPr>
          <p:cNvPr id="46" name="Text 44"/>
          <p:cNvSpPr txBox="1"/>
          <p:nvPr/>
        </p:nvSpPr>
        <p:spPr>
          <a:xfrm>
            <a:off x="11475720" y="6291072"/>
            <a:ext cx="301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8229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84048" y="16459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91440"/>
            <a:ext cx="8732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spc="-30" kern="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Cloud Infrastructure · 백서빈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9948672" y="210312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948672" y="21945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OPENSTACK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11480" y="1078992"/>
            <a:ext cx="109728" cy="48006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1170432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백서빈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1627632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Cloud Infrastructure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49808" y="2057400"/>
            <a:ext cx="1572768" cy="347472"/>
          </a:xfrm>
          <a:prstGeom prst="roundRect">
            <a:avLst>
              <a:gd name="adj" fmla="val 21053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206654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[완료] 역할 수행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49808" y="2596896"/>
            <a:ext cx="2697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클라우드 자원을 반복 가능하게 배포하는 기반을 완성했습니다.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749808" y="426110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책임 범위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68096" y="4690872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87552" y="459028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네트워크·보안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68096" y="5084064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87552" y="498348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컴퓨트·스토리지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768096" y="5477256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87552" y="537667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프로비저닝 검증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3657600" y="1078992"/>
            <a:ext cx="3877056" cy="4800600"/>
          </a:xfrm>
          <a:prstGeom prst="roundRect">
            <a:avLst>
              <a:gd name="adj" fmla="val 1887"/>
            </a:avLst>
          </a:prstGeom>
          <a:solidFill>
            <a:srgbClr val="F1F5F9"/>
          </a:solidFill>
          <a:ln w="17145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0" y="1078992"/>
            <a:ext cx="73152" cy="48006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895344" y="1207008"/>
            <a:ext cx="2459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OpenStack 구성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547104" y="1207008"/>
            <a:ext cx="768096" cy="292608"/>
          </a:xfrm>
          <a:prstGeom prst="roundRect">
            <a:avLst>
              <a:gd name="adj" fmla="val 250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47104" y="1216152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[완료]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3950208" y="309524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 결과 캡처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3950208" y="536752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화면 · 구성도 · 실행 결과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790688" y="1078992"/>
            <a:ext cx="3986784" cy="2276856"/>
          </a:xfrm>
          <a:prstGeom prst="roundRect">
            <a:avLst>
              <a:gd name="adj" fmla="val 3213"/>
            </a:avLst>
          </a:prstGeom>
          <a:solidFill>
            <a:srgbClr val="F1F5F9"/>
          </a:solidFill>
          <a:ln w="17145">
            <a:solidFill>
              <a:srgbClr val="06B6D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90688" y="1078992"/>
            <a:ext cx="73152" cy="227685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028432" y="1207008"/>
            <a:ext cx="2569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Provisioning 결과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10789920" y="1207008"/>
            <a:ext cx="768096" cy="292608"/>
          </a:xfrm>
          <a:prstGeom prst="roundRect">
            <a:avLst>
              <a:gd name="adj" fmla="val 250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789920" y="1216152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[완료]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8083296" y="2035272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증빙</a:t>
            </a:r>
            <a:endParaRPr lang="en-US" sz="2400" dirty="0"/>
          </a:p>
        </p:txBody>
      </p:sp>
      <p:sp>
        <p:nvSpPr>
          <p:cNvPr id="34" name="Text 32"/>
          <p:cNvSpPr txBox="1"/>
          <p:nvPr/>
        </p:nvSpPr>
        <p:spPr>
          <a:xfrm>
            <a:off x="8083296" y="2843784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설정 · 코드 · 운영 화면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790688" y="3602736"/>
            <a:ext cx="3986784" cy="2276856"/>
          </a:xfrm>
          <a:prstGeom prst="roundRect">
            <a:avLst>
              <a:gd name="adj" fmla="val 3213"/>
            </a:avLst>
          </a:prstGeom>
          <a:solidFill>
            <a:srgbClr val="F1F5F9"/>
          </a:solidFill>
          <a:ln w="17145">
            <a:solidFill>
              <a:srgbClr val="06B6D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90688" y="3602736"/>
            <a:ext cx="73152" cy="227685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028432" y="3730752"/>
            <a:ext cx="2569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네트워크 검증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10789920" y="3730752"/>
            <a:ext cx="768096" cy="292608"/>
          </a:xfrm>
          <a:prstGeom prst="roundRect">
            <a:avLst>
              <a:gd name="adj" fmla="val 250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789920" y="3739896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[완료]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8083296" y="4559016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 증빙</a:t>
            </a:r>
            <a:endParaRPr lang="en-US" sz="2400" dirty="0"/>
          </a:p>
        </p:txBody>
      </p:sp>
      <p:sp>
        <p:nvSpPr>
          <p:cNvPr id="41" name="Text 39"/>
          <p:cNvSpPr txBox="1"/>
          <p:nvPr/>
        </p:nvSpPr>
        <p:spPr>
          <a:xfrm>
            <a:off x="8083296" y="5367528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· 로그 · 결과 표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11480" y="6190488"/>
            <a:ext cx="11365992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38912" y="630021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MESSAGE</a:t>
            </a:r>
            <a:endParaRPr lang="en-US" sz="1600" dirty="0"/>
          </a:p>
        </p:txBody>
      </p:sp>
      <p:sp>
        <p:nvSpPr>
          <p:cNvPr id="44" name="Text 42"/>
          <p:cNvSpPr txBox="1"/>
          <p:nvPr/>
        </p:nvSpPr>
        <p:spPr>
          <a:xfrm>
            <a:off x="1737360" y="6263640"/>
            <a:ext cx="8275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OpenStack 자원 배포를 표준 절차와 증빙 가능한 결과로 만들었습니다.</a:t>
            </a:r>
            <a:endParaRPr lang="en-US" sz="1800" dirty="0"/>
          </a:p>
        </p:txBody>
      </p:sp>
      <p:sp>
        <p:nvSpPr>
          <p:cNvPr id="45" name="Text 43"/>
          <p:cNvSpPr txBox="1"/>
          <p:nvPr/>
        </p:nvSpPr>
        <p:spPr>
          <a:xfrm>
            <a:off x="10104120" y="629107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DANDELION</a:t>
            </a:r>
            <a:endParaRPr lang="en-US" sz="1600" dirty="0"/>
          </a:p>
        </p:txBody>
      </p:sp>
      <p:sp>
        <p:nvSpPr>
          <p:cNvPr id="46" name="Text 44"/>
          <p:cNvSpPr txBox="1"/>
          <p:nvPr/>
        </p:nvSpPr>
        <p:spPr>
          <a:xfrm>
            <a:off x="11475720" y="6291072"/>
            <a:ext cx="301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8229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84048" y="16459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91440"/>
            <a:ext cx="8732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spc="-30" kern="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Server / DB · 이진욱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9948672" y="210312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948672" y="21945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SERVICE / DB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11480" y="1078992"/>
            <a:ext cx="109728" cy="48006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1170432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이진욱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1627632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Server / DB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49808" y="2057400"/>
            <a:ext cx="1572768" cy="347472"/>
          </a:xfrm>
          <a:prstGeom prst="roundRect">
            <a:avLst>
              <a:gd name="adj" fmla="val 21053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206654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[완료] 역할 수행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49808" y="2596896"/>
            <a:ext cx="2697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서비스와 데이터 계층을 동일한 운영 기준으로 구성했습니다.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749808" y="426110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책임 범위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68096" y="4690872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87552" y="459028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 구성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68096" y="5084064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87552" y="498348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데이터베이스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768096" y="5477256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87552" y="537667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연결·복구 검증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3657600" y="1078992"/>
            <a:ext cx="3877056" cy="4800600"/>
          </a:xfrm>
          <a:prstGeom prst="roundRect">
            <a:avLst>
              <a:gd name="adj" fmla="val 1887"/>
            </a:avLst>
          </a:prstGeom>
          <a:solidFill>
            <a:srgbClr val="F1F5F9"/>
          </a:solidFill>
          <a:ln w="17145">
            <a:solidFill>
              <a:srgbClr val="8B5C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0" y="1078992"/>
            <a:ext cx="73152" cy="48006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895344" y="1207008"/>
            <a:ext cx="2459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 구성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547104" y="1207008"/>
            <a:ext cx="768096" cy="292608"/>
          </a:xfrm>
          <a:prstGeom prst="roundRect">
            <a:avLst>
              <a:gd name="adj" fmla="val 250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47104" y="1216152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[완료]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3950208" y="309524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 결과 캡처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3950208" y="536752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화면 · 구성도 · 실행 결과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790688" y="1078992"/>
            <a:ext cx="3986784" cy="2276856"/>
          </a:xfrm>
          <a:prstGeom prst="roundRect">
            <a:avLst>
              <a:gd name="adj" fmla="val 3213"/>
            </a:avLst>
          </a:prstGeom>
          <a:solidFill>
            <a:srgbClr val="F1F5F9"/>
          </a:solidFill>
          <a:ln w="17145">
            <a:solidFill>
              <a:srgbClr val="8B5C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90688" y="1078992"/>
            <a:ext cx="73152" cy="227685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028432" y="1207008"/>
            <a:ext cx="2569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DB 구성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10789920" y="1207008"/>
            <a:ext cx="768096" cy="292608"/>
          </a:xfrm>
          <a:prstGeom prst="roundRect">
            <a:avLst>
              <a:gd name="adj" fmla="val 250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789920" y="1216152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[완료]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8083296" y="2035272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증빙</a:t>
            </a:r>
            <a:endParaRPr lang="en-US" sz="2400" dirty="0"/>
          </a:p>
        </p:txBody>
      </p:sp>
      <p:sp>
        <p:nvSpPr>
          <p:cNvPr id="34" name="Text 32"/>
          <p:cNvSpPr txBox="1"/>
          <p:nvPr/>
        </p:nvSpPr>
        <p:spPr>
          <a:xfrm>
            <a:off x="8083296" y="2843784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설정 · 코드 · 운영 화면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790688" y="3602736"/>
            <a:ext cx="3986784" cy="2276856"/>
          </a:xfrm>
          <a:prstGeom prst="roundRect">
            <a:avLst>
              <a:gd name="adj" fmla="val 3213"/>
            </a:avLst>
          </a:prstGeom>
          <a:solidFill>
            <a:srgbClr val="F1F5F9"/>
          </a:solidFill>
          <a:ln w="17145">
            <a:solidFill>
              <a:srgbClr val="8B5C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90688" y="3602736"/>
            <a:ext cx="73152" cy="227685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028432" y="3730752"/>
            <a:ext cx="2569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연결·복구 결과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10789920" y="3730752"/>
            <a:ext cx="768096" cy="292608"/>
          </a:xfrm>
          <a:prstGeom prst="roundRect">
            <a:avLst>
              <a:gd name="adj" fmla="val 250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789920" y="3739896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[완료]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8083296" y="4559016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 증빙</a:t>
            </a:r>
            <a:endParaRPr lang="en-US" sz="2400" dirty="0"/>
          </a:p>
        </p:txBody>
      </p:sp>
      <p:sp>
        <p:nvSpPr>
          <p:cNvPr id="41" name="Text 39"/>
          <p:cNvSpPr txBox="1"/>
          <p:nvPr/>
        </p:nvSpPr>
        <p:spPr>
          <a:xfrm>
            <a:off x="8083296" y="5367528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· 로그 · 결과 표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11480" y="6190488"/>
            <a:ext cx="11365992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38912" y="630021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MESSAGE</a:t>
            </a:r>
            <a:endParaRPr lang="en-US" sz="1600" dirty="0"/>
          </a:p>
        </p:txBody>
      </p:sp>
      <p:sp>
        <p:nvSpPr>
          <p:cNvPr id="44" name="Text 42"/>
          <p:cNvSpPr txBox="1"/>
          <p:nvPr/>
        </p:nvSpPr>
        <p:spPr>
          <a:xfrm>
            <a:off x="1737360" y="6263640"/>
            <a:ext cx="8275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서비스와 DB 구성을 재현 가능한 배포 단위로 정리했습니다.</a:t>
            </a:r>
            <a:endParaRPr lang="en-US" sz="1800" dirty="0"/>
          </a:p>
        </p:txBody>
      </p:sp>
      <p:sp>
        <p:nvSpPr>
          <p:cNvPr id="45" name="Text 43"/>
          <p:cNvSpPr txBox="1"/>
          <p:nvPr/>
        </p:nvSpPr>
        <p:spPr>
          <a:xfrm>
            <a:off x="10104120" y="629107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DANDELION</a:t>
            </a:r>
            <a:endParaRPr lang="en-US" sz="1600" dirty="0"/>
          </a:p>
        </p:txBody>
      </p:sp>
      <p:sp>
        <p:nvSpPr>
          <p:cNvPr id="46" name="Text 44"/>
          <p:cNvSpPr txBox="1"/>
          <p:nvPr/>
        </p:nvSpPr>
        <p:spPr>
          <a:xfrm>
            <a:off x="11475720" y="6291072"/>
            <a:ext cx="301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822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84048" y="16459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91440"/>
            <a:ext cx="8732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spc="-30" kern="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Ansible Automation · 조민석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9948672" y="210312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948672" y="21945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ANSIBLE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11480" y="1078992"/>
            <a:ext cx="109728" cy="4800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1170432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조민석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1627632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Ansible Automation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49808" y="2057400"/>
            <a:ext cx="1572768" cy="347472"/>
          </a:xfrm>
          <a:prstGeom prst="roundRect">
            <a:avLst>
              <a:gd name="adj" fmla="val 21053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206654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[완료] 역할 수행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49808" y="2596896"/>
            <a:ext cx="2697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 작업을 코드로 전환해 동일한 결과를 다시 만들 수 있게 했습니다.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749808" y="426110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책임 범위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68096" y="4690872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87552" y="459028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Inventory 구조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68096" y="5084064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87552" y="498348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Playbook 역할 분리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768096" y="547725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87552" y="537667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멱등성·재실행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3657600" y="1078992"/>
            <a:ext cx="3877056" cy="4800600"/>
          </a:xfrm>
          <a:prstGeom prst="roundRect">
            <a:avLst>
              <a:gd name="adj" fmla="val 1887"/>
            </a:avLst>
          </a:prstGeom>
          <a:solidFill>
            <a:srgbClr val="F1F5F9"/>
          </a:solidFill>
          <a:ln w="17145">
            <a:solidFill>
              <a:srgbClr val="10B98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0" y="1078992"/>
            <a:ext cx="73152" cy="4800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895344" y="1207008"/>
            <a:ext cx="2459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Playbook 구조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547104" y="1207008"/>
            <a:ext cx="768096" cy="292608"/>
          </a:xfrm>
          <a:prstGeom prst="roundRect">
            <a:avLst>
              <a:gd name="adj" fmla="val 250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47104" y="1216152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[완료]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3950208" y="309524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 결과 캡처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3950208" y="536752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화면 · 구성도 · 실행 결과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790688" y="1078992"/>
            <a:ext cx="3986784" cy="2276856"/>
          </a:xfrm>
          <a:prstGeom prst="roundRect">
            <a:avLst>
              <a:gd name="adj" fmla="val 3213"/>
            </a:avLst>
          </a:prstGeom>
          <a:solidFill>
            <a:srgbClr val="F1F5F9"/>
          </a:solidFill>
          <a:ln w="17145">
            <a:solidFill>
              <a:srgbClr val="10B98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90688" y="1078992"/>
            <a:ext cx="73152" cy="227685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028432" y="1207008"/>
            <a:ext cx="2569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자동화 실행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10789920" y="1207008"/>
            <a:ext cx="768096" cy="292608"/>
          </a:xfrm>
          <a:prstGeom prst="roundRect">
            <a:avLst>
              <a:gd name="adj" fmla="val 250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789920" y="1216152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[완료]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8083296" y="2035272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증빙</a:t>
            </a:r>
            <a:endParaRPr lang="en-US" sz="2400" dirty="0"/>
          </a:p>
        </p:txBody>
      </p:sp>
      <p:sp>
        <p:nvSpPr>
          <p:cNvPr id="34" name="Text 32"/>
          <p:cNvSpPr txBox="1"/>
          <p:nvPr/>
        </p:nvSpPr>
        <p:spPr>
          <a:xfrm>
            <a:off x="8083296" y="2843784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설정 · 코드 · 운영 화면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790688" y="3602736"/>
            <a:ext cx="3986784" cy="2276856"/>
          </a:xfrm>
          <a:prstGeom prst="roundRect">
            <a:avLst>
              <a:gd name="adj" fmla="val 3213"/>
            </a:avLst>
          </a:prstGeom>
          <a:solidFill>
            <a:srgbClr val="F1F5F9"/>
          </a:solidFill>
          <a:ln w="17145">
            <a:solidFill>
              <a:srgbClr val="10B98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90688" y="3602736"/>
            <a:ext cx="73152" cy="227685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028432" y="3730752"/>
            <a:ext cx="2569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멱등성 검증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10789920" y="3730752"/>
            <a:ext cx="768096" cy="292608"/>
          </a:xfrm>
          <a:prstGeom prst="roundRect">
            <a:avLst>
              <a:gd name="adj" fmla="val 250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789920" y="3739896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[완료]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8083296" y="4559016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 증빙</a:t>
            </a:r>
            <a:endParaRPr lang="en-US" sz="2400" dirty="0"/>
          </a:p>
        </p:txBody>
      </p:sp>
      <p:sp>
        <p:nvSpPr>
          <p:cNvPr id="41" name="Text 39"/>
          <p:cNvSpPr txBox="1"/>
          <p:nvPr/>
        </p:nvSpPr>
        <p:spPr>
          <a:xfrm>
            <a:off x="8083296" y="5367528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· 로그 · 결과 표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11480" y="6190488"/>
            <a:ext cx="11365992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38912" y="630021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MESSAGE</a:t>
            </a:r>
            <a:endParaRPr lang="en-US" sz="1600" dirty="0"/>
          </a:p>
        </p:txBody>
      </p:sp>
      <p:sp>
        <p:nvSpPr>
          <p:cNvPr id="44" name="Text 42"/>
          <p:cNvSpPr txBox="1"/>
          <p:nvPr/>
        </p:nvSpPr>
        <p:spPr>
          <a:xfrm>
            <a:off x="1737360" y="6263640"/>
            <a:ext cx="8275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Ansible로 배포와 구성을 코드화해 반복 실행의 일관성을 확보했습니다.</a:t>
            </a:r>
            <a:endParaRPr lang="en-US" sz="1800" dirty="0"/>
          </a:p>
        </p:txBody>
      </p:sp>
      <p:sp>
        <p:nvSpPr>
          <p:cNvPr id="45" name="Text 43"/>
          <p:cNvSpPr txBox="1"/>
          <p:nvPr/>
        </p:nvSpPr>
        <p:spPr>
          <a:xfrm>
            <a:off x="10104120" y="629107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DANDELION</a:t>
            </a:r>
            <a:endParaRPr lang="en-US" sz="1600" dirty="0"/>
          </a:p>
        </p:txBody>
      </p:sp>
      <p:sp>
        <p:nvSpPr>
          <p:cNvPr id="46" name="Text 44"/>
          <p:cNvSpPr txBox="1"/>
          <p:nvPr/>
        </p:nvSpPr>
        <p:spPr>
          <a:xfrm>
            <a:off x="11475720" y="6291072"/>
            <a:ext cx="301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8229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84048" y="16459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91440"/>
            <a:ext cx="8732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spc="-30" kern="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Monitoring / Backup / Validation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9948672" y="210312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948672" y="21945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OPS / VALID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11480" y="1078992"/>
            <a:ext cx="109728" cy="48006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1170432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박재우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1627632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Monitoring / Backup / Validation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49808" y="2057400"/>
            <a:ext cx="1572768" cy="347472"/>
          </a:xfrm>
          <a:prstGeom prst="roundRect">
            <a:avLst>
              <a:gd name="adj" fmla="val 21053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206654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[완료] 역할 수행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49808" y="2596896"/>
            <a:ext cx="2697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관측과 복구 검증으로 운영 결과의 신뢰도를 확인했습니다.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749808" y="426110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책임 범위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68096" y="4690872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87552" y="459028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Monitoring·Alert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68096" y="5084064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87552" y="498348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Backup·Restore·DR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768096" y="5477256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87552" y="537667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 검증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3657600" y="1078992"/>
            <a:ext cx="3877056" cy="4800600"/>
          </a:xfrm>
          <a:prstGeom prst="roundRect">
            <a:avLst>
              <a:gd name="adj" fmla="val 1887"/>
            </a:avLst>
          </a:prstGeom>
          <a:solidFill>
            <a:srgbClr val="F1F5F9"/>
          </a:solidFill>
          <a:ln w="17145">
            <a:solidFill>
              <a:srgbClr val="F9731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0" y="1078992"/>
            <a:ext cx="73152" cy="48006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895344" y="1207008"/>
            <a:ext cx="2459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Monitoring 화면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547104" y="1207008"/>
            <a:ext cx="768096" cy="292608"/>
          </a:xfrm>
          <a:prstGeom prst="roundRect">
            <a:avLst>
              <a:gd name="adj" fmla="val 250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47104" y="1216152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[완료]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3950208" y="309524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 결과 캡처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3950208" y="536752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화면 · 구성도 · 실행 결과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790688" y="1078992"/>
            <a:ext cx="3986784" cy="2276856"/>
          </a:xfrm>
          <a:prstGeom prst="roundRect">
            <a:avLst>
              <a:gd name="adj" fmla="val 3213"/>
            </a:avLst>
          </a:prstGeom>
          <a:solidFill>
            <a:srgbClr val="F1F5F9"/>
          </a:solidFill>
          <a:ln w="17145">
            <a:solidFill>
              <a:srgbClr val="F9731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90688" y="1078992"/>
            <a:ext cx="73152" cy="227685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028432" y="1207008"/>
            <a:ext cx="2569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Backup / Restore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10789920" y="1207008"/>
            <a:ext cx="768096" cy="292608"/>
          </a:xfrm>
          <a:prstGeom prst="roundRect">
            <a:avLst>
              <a:gd name="adj" fmla="val 250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789920" y="1216152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[완료]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8083296" y="2035272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증빙</a:t>
            </a:r>
            <a:endParaRPr lang="en-US" sz="2400" dirty="0"/>
          </a:p>
        </p:txBody>
      </p:sp>
      <p:sp>
        <p:nvSpPr>
          <p:cNvPr id="34" name="Text 32"/>
          <p:cNvSpPr txBox="1"/>
          <p:nvPr/>
        </p:nvSpPr>
        <p:spPr>
          <a:xfrm>
            <a:off x="8083296" y="2843784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설정 · 코드 · 운영 화면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790688" y="3602736"/>
            <a:ext cx="3986784" cy="2276856"/>
          </a:xfrm>
          <a:prstGeom prst="roundRect">
            <a:avLst>
              <a:gd name="adj" fmla="val 3213"/>
            </a:avLst>
          </a:prstGeom>
          <a:solidFill>
            <a:srgbClr val="F1F5F9"/>
          </a:solidFill>
          <a:ln w="17145">
            <a:solidFill>
              <a:srgbClr val="F9731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90688" y="3602736"/>
            <a:ext cx="73152" cy="227685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028432" y="3730752"/>
            <a:ext cx="2569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Validation 결과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10789920" y="3730752"/>
            <a:ext cx="768096" cy="292608"/>
          </a:xfrm>
          <a:prstGeom prst="roundRect">
            <a:avLst>
              <a:gd name="adj" fmla="val 250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789920" y="3739896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[완료]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8083296" y="4559016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 증빙</a:t>
            </a:r>
            <a:endParaRPr lang="en-US" sz="2400" dirty="0"/>
          </a:p>
        </p:txBody>
      </p:sp>
      <p:sp>
        <p:nvSpPr>
          <p:cNvPr id="41" name="Text 39"/>
          <p:cNvSpPr txBox="1"/>
          <p:nvPr/>
        </p:nvSpPr>
        <p:spPr>
          <a:xfrm>
            <a:off x="8083296" y="5367528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· 로그 · 결과 표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11480" y="6190488"/>
            <a:ext cx="11365992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38912" y="630021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MESSAGE</a:t>
            </a:r>
            <a:endParaRPr lang="en-US" sz="1600" dirty="0"/>
          </a:p>
        </p:txBody>
      </p:sp>
      <p:sp>
        <p:nvSpPr>
          <p:cNvPr id="44" name="Text 42"/>
          <p:cNvSpPr txBox="1"/>
          <p:nvPr/>
        </p:nvSpPr>
        <p:spPr>
          <a:xfrm>
            <a:off x="1737360" y="6263640"/>
            <a:ext cx="8275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관측·백업·복구·검증을 연결해 운영 결과의 신뢰도를 높였습니다.</a:t>
            </a:r>
            <a:endParaRPr lang="en-US" sz="1800" dirty="0"/>
          </a:p>
        </p:txBody>
      </p:sp>
      <p:sp>
        <p:nvSpPr>
          <p:cNvPr id="45" name="Text 43"/>
          <p:cNvSpPr txBox="1"/>
          <p:nvPr/>
        </p:nvSpPr>
        <p:spPr>
          <a:xfrm>
            <a:off x="10104120" y="629107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DANDELION</a:t>
            </a:r>
            <a:endParaRPr lang="en-US" sz="1600" dirty="0"/>
          </a:p>
        </p:txBody>
      </p:sp>
      <p:sp>
        <p:nvSpPr>
          <p:cNvPr id="46" name="Text 44"/>
          <p:cNvSpPr txBox="1"/>
          <p:nvPr/>
        </p:nvSpPr>
        <p:spPr>
          <a:xfrm>
            <a:off x="11475720" y="6291072"/>
            <a:ext cx="301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8229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84048" y="16459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91440"/>
            <a:ext cx="8732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spc="-30" kern="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OpenStack Provisioning 자동화 결과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9948672" y="210312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948672" y="21945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OPENSTACK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11480" y="1097280"/>
            <a:ext cx="2331720" cy="4773168"/>
          </a:xfrm>
          <a:prstGeom prst="roundRect">
            <a:avLst>
              <a:gd name="adj" fmla="val 313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097280"/>
            <a:ext cx="91440" cy="477316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4944" y="1353312"/>
            <a:ext cx="841248" cy="310896"/>
          </a:xfrm>
          <a:prstGeom prst="roundRect">
            <a:avLst>
              <a:gd name="adj" fmla="val 23529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4944" y="1362456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[완료]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94944" y="1810512"/>
            <a:ext cx="1810512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클라우드 자원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배포 절차를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표준화했습니다.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94944" y="34015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 지표 A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" y="3712464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6B6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 수치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694944" y="4261104"/>
            <a:ext cx="17830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4944" y="449884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 지표 B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94944" y="4809744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6B6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 결과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411480" y="6190488"/>
            <a:ext cx="11365992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38912" y="630021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MESSAGE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737360" y="6263640"/>
            <a:ext cx="8275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프로비저닝 자동화로 자원 생성 절차와 검증 근거를 함께 확보했습니다.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0104120" y="629107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DANDELION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1475720" y="6291072"/>
            <a:ext cx="301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99232" y="1097280"/>
            <a:ext cx="8778240" cy="2267712"/>
          </a:xfrm>
          <a:prstGeom prst="roundRect">
            <a:avLst>
              <a:gd name="adj" fmla="val 3226"/>
            </a:avLst>
          </a:prstGeom>
          <a:solidFill>
            <a:srgbClr val="F1F5F9"/>
          </a:solidFill>
          <a:ln w="17145">
            <a:solidFill>
              <a:srgbClr val="06B6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1097280"/>
            <a:ext cx="73152" cy="22677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236976" y="1225296"/>
            <a:ext cx="7360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Provisioning 실행 결과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10789920" y="1225296"/>
            <a:ext cx="768096" cy="292608"/>
          </a:xfrm>
          <a:prstGeom prst="roundRect">
            <a:avLst>
              <a:gd name="adj" fmla="val 250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789920" y="1234440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[완료]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3291840" y="2049719"/>
            <a:ext cx="8193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CLI / Pipeline 캡처</a:t>
            </a:r>
            <a:endParaRPr lang="en-US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3291840" y="2852928"/>
            <a:ext cx="8193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명령 · 실행 로그 · 생성 자원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2999232" y="3602736"/>
            <a:ext cx="4261104" cy="2267712"/>
          </a:xfrm>
          <a:prstGeom prst="roundRect">
            <a:avLst>
              <a:gd name="adj" fmla="val 3226"/>
            </a:avLst>
          </a:prstGeom>
          <a:solidFill>
            <a:srgbClr val="F1F5F9"/>
          </a:solidFill>
          <a:ln w="17145">
            <a:solidFill>
              <a:srgbClr val="06B6D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999232" y="3602736"/>
            <a:ext cx="73152" cy="22677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236976" y="3730752"/>
            <a:ext cx="2843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네트워크 구성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6272784" y="3730752"/>
            <a:ext cx="768096" cy="292608"/>
          </a:xfrm>
          <a:prstGeom prst="roundRect">
            <a:avLst>
              <a:gd name="adj" fmla="val 250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272784" y="3739896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[완료]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3291840" y="4555175"/>
            <a:ext cx="3675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Topology 캡처</a:t>
            </a:r>
            <a:endParaRPr lang="en-US" sz="2400" dirty="0"/>
          </a:p>
        </p:txBody>
      </p:sp>
      <p:sp>
        <p:nvSpPr>
          <p:cNvPr id="37" name="Text 35"/>
          <p:cNvSpPr txBox="1"/>
          <p:nvPr/>
        </p:nvSpPr>
        <p:spPr>
          <a:xfrm>
            <a:off x="3291840" y="5358384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Network · Subnet · Router · Security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516368" y="3602736"/>
            <a:ext cx="4261104" cy="2267712"/>
          </a:xfrm>
          <a:prstGeom prst="roundRect">
            <a:avLst>
              <a:gd name="adj" fmla="val 3226"/>
            </a:avLst>
          </a:prstGeom>
          <a:solidFill>
            <a:srgbClr val="F1F5F9"/>
          </a:solidFill>
          <a:ln w="17145">
            <a:solidFill>
              <a:srgbClr val="06B6D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516368" y="3602736"/>
            <a:ext cx="73152" cy="22677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754112" y="3730752"/>
            <a:ext cx="2843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인스턴스 검증</a:t>
            </a:r>
            <a:endParaRPr lang="en-US" sz="2000" dirty="0"/>
          </a:p>
        </p:txBody>
      </p:sp>
      <p:sp>
        <p:nvSpPr>
          <p:cNvPr id="41" name="Shape 39"/>
          <p:cNvSpPr/>
          <p:nvPr/>
        </p:nvSpPr>
        <p:spPr>
          <a:xfrm>
            <a:off x="10789920" y="3730752"/>
            <a:ext cx="768096" cy="292608"/>
          </a:xfrm>
          <a:prstGeom prst="roundRect">
            <a:avLst>
              <a:gd name="adj" fmla="val 250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0789920" y="3739896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[완료]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7808976" y="4555175"/>
            <a:ext cx="3675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Console / 상태 표</a:t>
            </a:r>
            <a:endParaRPr lang="en-US" sz="2400" dirty="0"/>
          </a:p>
        </p:txBody>
      </p:sp>
      <p:sp>
        <p:nvSpPr>
          <p:cNvPr id="44" name="Text 42"/>
          <p:cNvSpPr txBox="1"/>
          <p:nvPr/>
        </p:nvSpPr>
        <p:spPr>
          <a:xfrm>
            <a:off x="7808976" y="5358384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Compute · Volume · Floating IP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8229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84048" y="16459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91440"/>
            <a:ext cx="8732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spc="-30" kern="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Service / DB 구성 결과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9948672" y="210312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948672" y="21945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SERVICE / DB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11480" y="1097280"/>
            <a:ext cx="2331720" cy="4773168"/>
          </a:xfrm>
          <a:prstGeom prst="roundRect">
            <a:avLst>
              <a:gd name="adj" fmla="val 313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097280"/>
            <a:ext cx="91440" cy="47731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4944" y="1353312"/>
            <a:ext cx="841248" cy="310896"/>
          </a:xfrm>
          <a:prstGeom prst="roundRect">
            <a:avLst>
              <a:gd name="adj" fmla="val 23529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4944" y="1362456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[완료]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94944" y="1810512"/>
            <a:ext cx="1810512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서비스와 DB의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연결 결과를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검증했습니다.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94944" y="34015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 지표 A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" y="3712464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B5C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구성 수치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694944" y="4261104"/>
            <a:ext cx="17830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4944" y="449884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 지표 B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94944" y="4809744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B5C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연결 결과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411480" y="6190488"/>
            <a:ext cx="11365992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38912" y="630021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MESSAGE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737360" y="6263640"/>
            <a:ext cx="8275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서비스·DB 구성과 연결 검증을 하나의 운영 가능한 단위로 완성했습니다.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0104120" y="629107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DANDELION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1475720" y="6291072"/>
            <a:ext cx="301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99232" y="1097280"/>
            <a:ext cx="4224528" cy="4773168"/>
          </a:xfrm>
          <a:prstGeom prst="roundRect">
            <a:avLst>
              <a:gd name="adj" fmla="val 1732"/>
            </a:avLst>
          </a:prstGeom>
          <a:solidFill>
            <a:srgbClr val="F1F5F9"/>
          </a:solidFill>
          <a:ln w="17145">
            <a:solidFill>
              <a:srgbClr val="8B5C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1097280"/>
            <a:ext cx="73152" cy="47731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236976" y="1225296"/>
            <a:ext cx="2807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Service 구성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6236208" y="1225296"/>
            <a:ext cx="768096" cy="292608"/>
          </a:xfrm>
          <a:prstGeom prst="roundRect">
            <a:avLst>
              <a:gd name="adj" fmla="val 250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36208" y="1234440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[완료]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3291840" y="3102011"/>
            <a:ext cx="3639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 화면 / 구성도</a:t>
            </a:r>
            <a:endParaRPr lang="en-US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3291840" y="5358384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Endpoint · Process · Health Check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479792" y="1097280"/>
            <a:ext cx="4297680" cy="2267712"/>
          </a:xfrm>
          <a:prstGeom prst="roundRect">
            <a:avLst>
              <a:gd name="adj" fmla="val 3226"/>
            </a:avLst>
          </a:prstGeom>
          <a:solidFill>
            <a:srgbClr val="F1F5F9"/>
          </a:solidFill>
          <a:ln w="17145">
            <a:solidFill>
              <a:srgbClr val="8B5C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79792" y="1097280"/>
            <a:ext cx="73152" cy="226771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17536" y="1225296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DB 구성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10789920" y="1225296"/>
            <a:ext cx="768096" cy="292608"/>
          </a:xfrm>
          <a:prstGeom prst="roundRect">
            <a:avLst>
              <a:gd name="adj" fmla="val 250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789920" y="1234440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[완료]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7772400" y="2049719"/>
            <a:ext cx="3712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설정 / Schema 캡처</a:t>
            </a:r>
            <a:endParaRPr lang="en-US" sz="2400" dirty="0"/>
          </a:p>
        </p:txBody>
      </p:sp>
      <p:sp>
        <p:nvSpPr>
          <p:cNvPr id="37" name="Text 35"/>
          <p:cNvSpPr txBox="1"/>
          <p:nvPr/>
        </p:nvSpPr>
        <p:spPr>
          <a:xfrm>
            <a:off x="7772400" y="2852928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Database · User · Connection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479792" y="3602736"/>
            <a:ext cx="4297680" cy="2267712"/>
          </a:xfrm>
          <a:prstGeom prst="roundRect">
            <a:avLst>
              <a:gd name="adj" fmla="val 3226"/>
            </a:avLst>
          </a:prstGeom>
          <a:solidFill>
            <a:srgbClr val="F1F5F9"/>
          </a:solidFill>
          <a:ln w="17145">
            <a:solidFill>
              <a:srgbClr val="8B5C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479792" y="3602736"/>
            <a:ext cx="73152" cy="226771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717536" y="3730752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연결 검증</a:t>
            </a:r>
            <a:endParaRPr lang="en-US" sz="2000" dirty="0"/>
          </a:p>
        </p:txBody>
      </p:sp>
      <p:sp>
        <p:nvSpPr>
          <p:cNvPr id="41" name="Shape 39"/>
          <p:cNvSpPr/>
          <p:nvPr/>
        </p:nvSpPr>
        <p:spPr>
          <a:xfrm>
            <a:off x="10789920" y="3730752"/>
            <a:ext cx="768096" cy="292608"/>
          </a:xfrm>
          <a:prstGeom prst="roundRect">
            <a:avLst>
              <a:gd name="adj" fmla="val 250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0789920" y="3739896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[완료]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7772400" y="4555175"/>
            <a:ext cx="3712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Query / 응답 캡처</a:t>
            </a:r>
            <a:endParaRPr lang="en-US" sz="2400" dirty="0"/>
          </a:p>
        </p:txBody>
      </p:sp>
      <p:sp>
        <p:nvSpPr>
          <p:cNvPr id="44" name="Text 42"/>
          <p:cNvSpPr txBox="1"/>
          <p:nvPr/>
        </p:nvSpPr>
        <p:spPr>
          <a:xfrm>
            <a:off x="7772400" y="5358384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Connectivity · Read / Write · Recovery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8229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84048" y="16459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91440"/>
            <a:ext cx="8732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spc="-30" kern="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Monitoring / Alert 구성 결과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9948672" y="210312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948672" y="21945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OBSERVABILITY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12064" y="1143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관측 지표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12064" y="1444752"/>
            <a:ext cx="32369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 수치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968496" y="1133856"/>
            <a:ext cx="0" cy="82296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279392" y="1143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Alert 규칙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279392" y="1444752"/>
            <a:ext cx="32369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 수치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7735824" y="1133856"/>
            <a:ext cx="0" cy="82296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0" y="1143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 결과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0" y="1444752"/>
            <a:ext cx="32369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C5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[완료]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512064" y="2148840"/>
            <a:ext cx="3493008" cy="3721608"/>
          </a:xfrm>
          <a:prstGeom prst="roundRect">
            <a:avLst>
              <a:gd name="adj" fmla="val 2094"/>
            </a:avLst>
          </a:prstGeom>
          <a:solidFill>
            <a:srgbClr val="F1F5F9"/>
          </a:solidFill>
          <a:ln w="17145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" y="2148840"/>
            <a:ext cx="73152" cy="37216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9808" y="2276856"/>
            <a:ext cx="2075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Dashboard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3017520" y="2276856"/>
            <a:ext cx="768096" cy="292608"/>
          </a:xfrm>
          <a:prstGeom prst="roundRect">
            <a:avLst>
              <a:gd name="adj" fmla="val 250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017520" y="2286000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[완료]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04672" y="3711915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캡처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804672" y="5358384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시계열 · 리소스 · 서비스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279392" y="2148840"/>
            <a:ext cx="3493008" cy="3721608"/>
          </a:xfrm>
          <a:prstGeom prst="roundRect">
            <a:avLst>
              <a:gd name="adj" fmla="val 2094"/>
            </a:avLst>
          </a:prstGeom>
          <a:solidFill>
            <a:srgbClr val="F1F5F9"/>
          </a:solidFill>
          <a:ln w="17145">
            <a:solidFill>
              <a:srgbClr val="F9731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79392" y="2148840"/>
            <a:ext cx="73152" cy="37216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17136" y="2276856"/>
            <a:ext cx="2075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Alert Rule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784848" y="2276856"/>
            <a:ext cx="768096" cy="292608"/>
          </a:xfrm>
          <a:prstGeom prst="roundRect">
            <a:avLst>
              <a:gd name="adj" fmla="val 250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784848" y="2286000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[완료]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3711915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캡처</a:t>
            </a:r>
            <a:endParaRPr lang="en-US" sz="24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0" y="5358384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임계치 · 조건 · 라우팅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046720" y="2148840"/>
            <a:ext cx="3493008" cy="3721608"/>
          </a:xfrm>
          <a:prstGeom prst="roundRect">
            <a:avLst>
              <a:gd name="adj" fmla="val 2094"/>
            </a:avLst>
          </a:prstGeom>
          <a:solidFill>
            <a:srgbClr val="F1F5F9"/>
          </a:solidFill>
          <a:ln w="17145">
            <a:solidFill>
              <a:srgbClr val="F9731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46720" y="2148840"/>
            <a:ext cx="73152" cy="37216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84464" y="2276856"/>
            <a:ext cx="2075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Notification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10552176" y="2276856"/>
            <a:ext cx="768096" cy="292608"/>
          </a:xfrm>
          <a:prstGeom prst="roundRect">
            <a:avLst>
              <a:gd name="adj" fmla="val 250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552176" y="2286000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[완료]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8339328" y="3711915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캡처</a:t>
            </a:r>
            <a:endParaRPr lang="en-US" sz="2400" dirty="0"/>
          </a:p>
        </p:txBody>
      </p:sp>
      <p:sp>
        <p:nvSpPr>
          <p:cNvPr id="36" name="Text 34"/>
          <p:cNvSpPr txBox="1"/>
          <p:nvPr/>
        </p:nvSpPr>
        <p:spPr>
          <a:xfrm>
            <a:off x="8339328" y="5358384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발생 · 전달 · 조치 근거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11480" y="6190488"/>
            <a:ext cx="11365992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38912" y="630021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MESSAGE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1737360" y="6263640"/>
            <a:ext cx="8275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Monitoring과 Alert 결과를 화면·규칙·알림 흐름으로 검증했습니다.</a:t>
            </a:r>
            <a:endParaRPr lang="en-US" sz="1800" dirty="0"/>
          </a:p>
        </p:txBody>
      </p:sp>
      <p:sp>
        <p:nvSpPr>
          <p:cNvPr id="40" name="Text 38"/>
          <p:cNvSpPr txBox="1"/>
          <p:nvPr/>
        </p:nvSpPr>
        <p:spPr>
          <a:xfrm>
            <a:off x="10104120" y="629107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DANDELION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11475720" y="6291072"/>
            <a:ext cx="301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8229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84048" y="16459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91440"/>
            <a:ext cx="8732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spc="-30" kern="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Backup / Restore / DR 결과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9948672" y="210312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948672" y="21945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RECOVERY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12064" y="1097280"/>
            <a:ext cx="6812280" cy="4773168"/>
          </a:xfrm>
          <a:prstGeom prst="roundRect">
            <a:avLst>
              <a:gd name="adj" fmla="val 1533"/>
            </a:avLst>
          </a:prstGeom>
          <a:solidFill>
            <a:srgbClr val="F1F5F9"/>
          </a:solidFill>
          <a:ln w="17145">
            <a:solidFill>
              <a:srgbClr val="F9731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" y="1097280"/>
            <a:ext cx="73152" cy="47731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1225296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Backup → Restore → DR 흐름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336792" y="1225296"/>
            <a:ext cx="768096" cy="292608"/>
          </a:xfrm>
          <a:prstGeom prst="roundRect">
            <a:avLst>
              <a:gd name="adj" fmla="val 250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36792" y="1234440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[완료]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04672" y="3102011"/>
            <a:ext cx="6227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복구 절차 다이어그램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804672" y="5358384"/>
            <a:ext cx="6227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대상 · 보관 · 복원 · 서비스 검증 · 결과 근거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571232" y="1097280"/>
            <a:ext cx="4206240" cy="2267712"/>
          </a:xfrm>
          <a:prstGeom prst="roundRect">
            <a:avLst>
              <a:gd name="adj" fmla="val 3226"/>
            </a:avLst>
          </a:prstGeom>
          <a:solidFill>
            <a:srgbClr val="F1F5F9"/>
          </a:solidFill>
          <a:ln w="17145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71232" y="1097280"/>
            <a:ext cx="73152" cy="226771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808976" y="1225296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Backup 결과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0789920" y="1225296"/>
            <a:ext cx="768096" cy="292608"/>
          </a:xfrm>
          <a:prstGeom prst="roundRect">
            <a:avLst>
              <a:gd name="adj" fmla="val 250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789920" y="1234440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[완료]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863840" y="2049719"/>
            <a:ext cx="3621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Job / Log 캡처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7863840" y="2852928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대상 · 시각 · 결과 · 보관 위치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571232" y="3602736"/>
            <a:ext cx="4206240" cy="2267712"/>
          </a:xfrm>
          <a:prstGeom prst="roundRect">
            <a:avLst>
              <a:gd name="adj" fmla="val 3226"/>
            </a:avLst>
          </a:prstGeom>
          <a:solidFill>
            <a:srgbClr val="F1F5F9"/>
          </a:solidFill>
          <a:ln w="17145">
            <a:solidFill>
              <a:srgbClr val="F9731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71232" y="3602736"/>
            <a:ext cx="73152" cy="226771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808976" y="3730752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Restore / DR 검증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10789920" y="3730752"/>
            <a:ext cx="768096" cy="292608"/>
          </a:xfrm>
          <a:prstGeom prst="roundRect">
            <a:avLst>
              <a:gd name="adj" fmla="val 250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789920" y="3739896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[완료]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863840" y="4555175"/>
            <a:ext cx="3621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복구 후 검증 화면</a:t>
            </a:r>
            <a:endParaRPr lang="en-US" sz="2400" dirty="0"/>
          </a:p>
        </p:txBody>
      </p:sp>
      <p:sp>
        <p:nvSpPr>
          <p:cNvPr id="28" name="Text 26"/>
          <p:cNvSpPr txBox="1"/>
          <p:nvPr/>
        </p:nvSpPr>
        <p:spPr>
          <a:xfrm>
            <a:off x="7863840" y="5358384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복원 · 연결 · 데이터 · 서비스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11480" y="6190488"/>
            <a:ext cx="11365992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38912" y="630021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MESSAGE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737360" y="6263640"/>
            <a:ext cx="8275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백업 생성보다 복구 후 서비스 검증까지 완료한 결과를 제시합니다.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10104120" y="629107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DANDELION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11475720" y="6291072"/>
            <a:ext cx="301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8229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84048" y="16459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91440"/>
            <a:ext cx="8732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spc="-30" kern="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 검증 결과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9948672" y="210312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948672" y="21945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VALIDATION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12064" y="1078992"/>
            <a:ext cx="11265408" cy="1874520"/>
          </a:xfrm>
          <a:prstGeom prst="roundRect">
            <a:avLst>
              <a:gd name="adj" fmla="val 3902"/>
            </a:avLst>
          </a:prstGeom>
          <a:solidFill>
            <a:srgbClr val="F1F5F9"/>
          </a:solidFill>
          <a:ln w="17145">
            <a:solidFill>
              <a:srgbClr val="22C5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" y="1078992"/>
            <a:ext cx="73152" cy="18745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1207008"/>
            <a:ext cx="9848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 검증 매트릭스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789920" y="1207008"/>
            <a:ext cx="768096" cy="292608"/>
          </a:xfrm>
          <a:prstGeom prst="roundRect">
            <a:avLst>
              <a:gd name="adj" fmla="val 250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789920" y="1216152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[완료]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04672" y="1866290"/>
            <a:ext cx="10680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결과 표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804672" y="2441448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시나리오 · 기대 결과 · 실제 결과 · 증빙 · [완료]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12064" y="3182112"/>
            <a:ext cx="3493008" cy="2688336"/>
          </a:xfrm>
          <a:prstGeom prst="roundRect">
            <a:avLst>
              <a:gd name="adj" fmla="val 2721"/>
            </a:avLst>
          </a:prstGeom>
          <a:solidFill>
            <a:srgbClr val="F1F5F9"/>
          </a:solidFill>
          <a:ln w="17145">
            <a:solidFill>
              <a:srgbClr val="06B6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2064" y="3182112"/>
            <a:ext cx="73152" cy="26883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9808" y="3310128"/>
            <a:ext cx="2075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Provisioning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3017520" y="3310128"/>
            <a:ext cx="768096" cy="292608"/>
          </a:xfrm>
          <a:prstGeom prst="roundRect">
            <a:avLst>
              <a:gd name="adj" fmla="val 250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017520" y="3319272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[완료]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" y="4311213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 증빙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804672" y="5358384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 · 결과 · 로그 · 판정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279392" y="3182112"/>
            <a:ext cx="3493008" cy="2688336"/>
          </a:xfrm>
          <a:prstGeom prst="roundRect">
            <a:avLst>
              <a:gd name="adj" fmla="val 2721"/>
            </a:avLst>
          </a:prstGeom>
          <a:solidFill>
            <a:srgbClr val="F1F5F9"/>
          </a:solidFill>
          <a:ln w="17145">
            <a:solidFill>
              <a:srgbClr val="8B5C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79392" y="3182112"/>
            <a:ext cx="73152" cy="268833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17136" y="3310128"/>
            <a:ext cx="2075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Service / DB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784848" y="3310128"/>
            <a:ext cx="768096" cy="292608"/>
          </a:xfrm>
          <a:prstGeom prst="roundRect">
            <a:avLst>
              <a:gd name="adj" fmla="val 250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784848" y="3319272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[완료]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0" y="4311213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 증빙</a:t>
            </a:r>
            <a:endParaRPr lang="en-US" sz="24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5358384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 · 결과 · 로그 · 판정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046720" y="3182112"/>
            <a:ext cx="3493008" cy="2688336"/>
          </a:xfrm>
          <a:prstGeom prst="roundRect">
            <a:avLst>
              <a:gd name="adj" fmla="val 2721"/>
            </a:avLst>
          </a:prstGeom>
          <a:solidFill>
            <a:srgbClr val="F1F5F9"/>
          </a:solidFill>
          <a:ln w="17145">
            <a:solidFill>
              <a:srgbClr val="F9731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46720" y="3182112"/>
            <a:ext cx="73152" cy="268833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84464" y="3310128"/>
            <a:ext cx="2075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Operations / DR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10552176" y="3310128"/>
            <a:ext cx="768096" cy="292608"/>
          </a:xfrm>
          <a:prstGeom prst="roundRect">
            <a:avLst>
              <a:gd name="adj" fmla="val 250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552176" y="3319272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[완료]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8339328" y="4311213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 증빙</a:t>
            </a:r>
            <a:endParaRPr lang="en-US" sz="2400" dirty="0"/>
          </a:p>
        </p:txBody>
      </p:sp>
      <p:sp>
        <p:nvSpPr>
          <p:cNvPr id="35" name="Text 33"/>
          <p:cNvSpPr txBox="1"/>
          <p:nvPr/>
        </p:nvSpPr>
        <p:spPr>
          <a:xfrm>
            <a:off x="8339328" y="5358384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 · 결과 · 로그 · 판정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11480" y="6190488"/>
            <a:ext cx="11365992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38912" y="630021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MESSAGE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1737360" y="6263640"/>
            <a:ext cx="8275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개별 구성 결과가 하나의 서비스 흐름에서 정상 동작함을 확인했습니다.</a:t>
            </a:r>
            <a:endParaRPr lang="en-US" sz="1800" dirty="0"/>
          </a:p>
        </p:txBody>
      </p:sp>
      <p:sp>
        <p:nvSpPr>
          <p:cNvPr id="39" name="Text 37"/>
          <p:cNvSpPr txBox="1"/>
          <p:nvPr/>
        </p:nvSpPr>
        <p:spPr>
          <a:xfrm>
            <a:off x="10104120" y="629107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DANDELION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11475720" y="6291072"/>
            <a:ext cx="301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8229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84048" y="16459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91440"/>
            <a:ext cx="8732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spc="-30" kern="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구현 결과 요약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9948672" y="210312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948672" y="21945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SUMMARY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12064" y="1078992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다섯 역할의 결과가 하나의 운영 자동화 체계로 수렴했습니다.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12064" y="1764792"/>
            <a:ext cx="11265408" cy="621792"/>
          </a:xfrm>
          <a:prstGeom prst="roundRect">
            <a:avLst>
              <a:gd name="adj" fmla="val 735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2064" y="1764792"/>
            <a:ext cx="100584" cy="6217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183794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 / Architecture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206240" y="1837944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아키텍처·통합 기준 정렬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515600" y="1911096"/>
            <a:ext cx="841248" cy="310896"/>
          </a:xfrm>
          <a:prstGeom prst="roundRect">
            <a:avLst>
              <a:gd name="adj" fmla="val 23529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0" y="1920240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[완료]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12064" y="2569464"/>
            <a:ext cx="11265408" cy="621792"/>
          </a:xfrm>
          <a:prstGeom prst="roundRect">
            <a:avLst>
              <a:gd name="adj" fmla="val 735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2064" y="2569464"/>
            <a:ext cx="100584" cy="6217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" y="264261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Cloud Infrastructure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206240" y="2642616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OpenStack 프로비저닝 자동화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515600" y="2715768"/>
            <a:ext cx="841248" cy="310896"/>
          </a:xfrm>
          <a:prstGeom prst="roundRect">
            <a:avLst>
              <a:gd name="adj" fmla="val 23529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515600" y="2724912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[완료]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12064" y="3374136"/>
            <a:ext cx="11265408" cy="621792"/>
          </a:xfrm>
          <a:prstGeom prst="roundRect">
            <a:avLst>
              <a:gd name="adj" fmla="val 735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2064" y="3374136"/>
            <a:ext cx="100584" cy="6217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4672" y="344728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Server / DB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4206240" y="3447288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서비스·DB 표준 구성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0515600" y="3520440"/>
            <a:ext cx="841248" cy="310896"/>
          </a:xfrm>
          <a:prstGeom prst="roundRect">
            <a:avLst>
              <a:gd name="adj" fmla="val 23529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515600" y="3529584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[완료]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12064" y="4178808"/>
            <a:ext cx="11265408" cy="621792"/>
          </a:xfrm>
          <a:prstGeom prst="roundRect">
            <a:avLst>
              <a:gd name="adj" fmla="val 735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2064" y="4178808"/>
            <a:ext cx="100584" cy="6217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04672" y="42519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Ansible Automation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4206240" y="4251960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 배포 절차 코드화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0515600" y="4325112"/>
            <a:ext cx="841248" cy="310896"/>
          </a:xfrm>
          <a:prstGeom prst="roundRect">
            <a:avLst>
              <a:gd name="adj" fmla="val 23529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515600" y="4334256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[완료]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12064" y="4983480"/>
            <a:ext cx="11265408" cy="621792"/>
          </a:xfrm>
          <a:prstGeom prst="roundRect">
            <a:avLst>
              <a:gd name="adj" fmla="val 735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12064" y="4983480"/>
            <a:ext cx="100584" cy="6217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04672" y="505663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Monitoring / Backup / Validation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4206240" y="5056632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관측·백업·복구 통합 검증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0515600" y="5129784"/>
            <a:ext cx="841248" cy="310896"/>
          </a:xfrm>
          <a:prstGeom prst="roundRect">
            <a:avLst>
              <a:gd name="adj" fmla="val 23529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515600" y="5138928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[완료]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11480" y="6190488"/>
            <a:ext cx="11365992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38912" y="630021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MESSAGE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1737360" y="6263640"/>
            <a:ext cx="8275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자동화·서비스·관측·복구 결과를 역할별 증빙과 함께 요약했습니다.</a:t>
            </a:r>
            <a:endParaRPr lang="en-US" sz="1800" dirty="0"/>
          </a:p>
        </p:txBody>
      </p:sp>
      <p:sp>
        <p:nvSpPr>
          <p:cNvPr id="42" name="Text 40"/>
          <p:cNvSpPr txBox="1"/>
          <p:nvPr/>
        </p:nvSpPr>
        <p:spPr>
          <a:xfrm>
            <a:off x="10104120" y="629107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DANDELION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11475720" y="6291072"/>
            <a:ext cx="301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822960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84048" y="16459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CC1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17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91440"/>
            <a:ext cx="8732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spc="-30" kern="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자체 평가 의견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9948672" y="210312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948672" y="21945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REVIEW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12064" y="1078992"/>
            <a:ext cx="3886200" cy="4791456"/>
          </a:xfrm>
          <a:prstGeom prst="roundRect">
            <a:avLst>
              <a:gd name="adj" fmla="val 1882"/>
            </a:avLst>
          </a:prstGeom>
          <a:solidFill>
            <a:srgbClr val="F1F5F9"/>
          </a:solidFill>
          <a:ln w="17145">
            <a:solidFill>
              <a:srgbClr val="FACC1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" y="1078992"/>
            <a:ext cx="73152" cy="4791456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120700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 요약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410712" y="1207008"/>
            <a:ext cx="768096" cy="292608"/>
          </a:xfrm>
          <a:prstGeom prst="roundRect">
            <a:avLst>
              <a:gd name="adj" fmla="val 250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10712" y="1216152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[완료]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04672" y="3091404"/>
            <a:ext cx="3300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 표 / Radar Chart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804672" y="5358384"/>
            <a:ext cx="3300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완성도 · 자동화 · 안정성 · 검증 · 협업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645152" y="1078992"/>
            <a:ext cx="7132320" cy="1353312"/>
          </a:xfrm>
          <a:prstGeom prst="roundRect">
            <a:avLst>
              <a:gd name="adj" fmla="val 405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45152" y="1078992"/>
            <a:ext cx="91440" cy="135331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83480" y="1243584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잘된 점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4983480" y="1618488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구현 결과가 역할별 증빙과 통합 검증으로 연결되었습니다.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625328" y="1243584"/>
            <a:ext cx="841248" cy="310896"/>
          </a:xfrm>
          <a:prstGeom prst="roundRect">
            <a:avLst>
              <a:gd name="adj" fmla="val 23529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625328" y="1252728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[완료]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645152" y="2697480"/>
            <a:ext cx="7132320" cy="1353312"/>
          </a:xfrm>
          <a:prstGeom prst="roundRect">
            <a:avLst>
              <a:gd name="adj" fmla="val 405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45152" y="2697480"/>
            <a:ext cx="91440" cy="135331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983480" y="2862072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기술적 근거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4983480" y="3236976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코드·설정·로그·운영 화면으로 결과를 설명합니다.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0625328" y="2862072"/>
            <a:ext cx="841248" cy="310896"/>
          </a:xfrm>
          <a:prstGeom prst="roundRect">
            <a:avLst>
              <a:gd name="adj" fmla="val 23529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625328" y="2871216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[완료]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645152" y="4315968"/>
            <a:ext cx="7132320" cy="1353312"/>
          </a:xfrm>
          <a:prstGeom prst="roundRect">
            <a:avLst>
              <a:gd name="adj" fmla="val 405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45152" y="4315968"/>
            <a:ext cx="91440" cy="1353312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983480" y="448056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ACC1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확장 가능성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4983480" y="4855464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표준화된 구조를 다른 서비스와 환경에 재사용할 수 있습니다.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0625328" y="4480560"/>
            <a:ext cx="841248" cy="310896"/>
          </a:xfrm>
          <a:prstGeom prst="roundRect">
            <a:avLst>
              <a:gd name="adj" fmla="val 23529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625328" y="4489704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[완료]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11480" y="6190488"/>
            <a:ext cx="11365992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38912" y="630021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ACC1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MESSAGE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737360" y="6263640"/>
            <a:ext cx="8275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결과의 완성도는 구현 수치와 재현 가능한 검증 증빙으로 평가합니다.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10104120" y="629107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DANDELION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11475720" y="6291072"/>
            <a:ext cx="301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17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502920"/>
            <a:ext cx="1828800" cy="685800"/>
          </a:xfrm>
          <a:prstGeom prst="line">
            <a:avLst/>
          </a:prstGeom>
          <a:noFill/>
          <a:ln w="13970">
            <a:solidFill>
              <a:srgbClr val="F97316">
                <a:alpha val="5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1188720"/>
            <a:ext cx="1508760" cy="960120"/>
          </a:xfrm>
          <a:prstGeom prst="line">
            <a:avLst/>
          </a:prstGeom>
          <a:noFill/>
          <a:ln w="13970">
            <a:solidFill>
              <a:srgbClr val="F97316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0" y="2560320"/>
            <a:ext cx="1645920" cy="-365760"/>
          </a:xfrm>
          <a:prstGeom prst="line">
            <a:avLst/>
          </a:prstGeom>
          <a:noFill/>
          <a:ln w="13970">
            <a:solidFill>
              <a:srgbClr val="F97316">
                <a:alpha val="5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49840" y="2194560"/>
            <a:ext cx="1097280" cy="1097280"/>
          </a:xfrm>
          <a:prstGeom prst="line">
            <a:avLst/>
          </a:prstGeom>
          <a:noFill/>
          <a:ln w="13970">
            <a:solidFill>
              <a:srgbClr val="F97316">
                <a:alpha val="5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92440" y="4251960"/>
            <a:ext cx="1325880" cy="-594360"/>
          </a:xfrm>
          <a:prstGeom prst="line">
            <a:avLst/>
          </a:prstGeom>
          <a:noFill/>
          <a:ln w="13970">
            <a:solidFill>
              <a:srgbClr val="F97316">
                <a:alpha val="5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18320" y="3657600"/>
            <a:ext cx="1828800" cy="228600"/>
          </a:xfrm>
          <a:prstGeom prst="line">
            <a:avLst/>
          </a:prstGeom>
          <a:noFill/>
          <a:ln w="13970">
            <a:solidFill>
              <a:srgbClr val="F97316">
                <a:alpha val="5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12680" y="5349240"/>
            <a:ext cx="1325880" cy="-1463040"/>
          </a:xfrm>
          <a:prstGeom prst="line">
            <a:avLst/>
          </a:prstGeom>
          <a:noFill/>
          <a:ln w="13970">
            <a:solidFill>
              <a:srgbClr val="F97316">
                <a:alpha val="5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06640" y="411480"/>
            <a:ext cx="164592" cy="164592"/>
          </a:xfrm>
          <a:prstGeom prst="ellipse">
            <a:avLst/>
          </a:prstGeom>
          <a:solidFill>
            <a:srgbClr val="F97316"/>
          </a:solidFill>
          <a:ln w="8890">
            <a:solidFill>
              <a:srgbClr val="F8FAFC">
                <a:alpha val="7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235440" y="1097280"/>
            <a:ext cx="237744" cy="237744"/>
          </a:xfrm>
          <a:prstGeom prst="ellipse">
            <a:avLst/>
          </a:prstGeom>
          <a:solidFill>
            <a:srgbClr val="F97316"/>
          </a:solidFill>
          <a:ln w="8890">
            <a:solidFill>
              <a:srgbClr val="F8FAFC">
                <a:alpha val="7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16768" y="2029968"/>
            <a:ext cx="164592" cy="164592"/>
          </a:xfrm>
          <a:prstGeom prst="ellipse">
            <a:avLst/>
          </a:prstGeom>
          <a:solidFill>
            <a:srgbClr val="F97316"/>
          </a:solidFill>
          <a:ln w="8890">
            <a:solidFill>
              <a:srgbClr val="F8FAFC">
                <a:alpha val="7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94192" y="2468880"/>
            <a:ext cx="201168" cy="201168"/>
          </a:xfrm>
          <a:prstGeom prst="ellipse">
            <a:avLst/>
          </a:prstGeom>
          <a:solidFill>
            <a:srgbClr val="F97316"/>
          </a:solidFill>
          <a:ln w="8890">
            <a:solidFill>
              <a:srgbClr val="F8FAFC">
                <a:alpha val="7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0" y="2103120"/>
            <a:ext cx="256032" cy="256032"/>
          </a:xfrm>
          <a:prstGeom prst="ellipse">
            <a:avLst/>
          </a:prstGeom>
          <a:solidFill>
            <a:srgbClr val="F97316"/>
          </a:solidFill>
          <a:ln w="8890">
            <a:solidFill>
              <a:srgbClr val="F8FAFC">
                <a:alpha val="7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173968" y="3218688"/>
            <a:ext cx="182880" cy="182880"/>
          </a:xfrm>
          <a:prstGeom prst="ellipse">
            <a:avLst/>
          </a:prstGeom>
          <a:solidFill>
            <a:srgbClr val="F97316"/>
          </a:solidFill>
          <a:ln w="8890">
            <a:solidFill>
              <a:srgbClr val="F8FAFC">
                <a:alpha val="7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01000" y="4160520"/>
            <a:ext cx="182880" cy="182880"/>
          </a:xfrm>
          <a:prstGeom prst="ellipse">
            <a:avLst/>
          </a:prstGeom>
          <a:solidFill>
            <a:srgbClr val="F97316"/>
          </a:solidFill>
          <a:ln w="8890">
            <a:solidFill>
              <a:srgbClr val="F8FAFC">
                <a:alpha val="7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45168" y="3547872"/>
            <a:ext cx="219456" cy="219456"/>
          </a:xfrm>
          <a:prstGeom prst="ellipse">
            <a:avLst/>
          </a:prstGeom>
          <a:solidFill>
            <a:srgbClr val="F97316"/>
          </a:solidFill>
          <a:ln w="8890">
            <a:solidFill>
              <a:srgbClr val="F8FAFC">
                <a:alpha val="7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173968" y="3794760"/>
            <a:ext cx="164592" cy="164592"/>
          </a:xfrm>
          <a:prstGeom prst="ellipse">
            <a:avLst/>
          </a:prstGeom>
          <a:solidFill>
            <a:srgbClr val="F97316"/>
          </a:solidFill>
          <a:ln w="8890">
            <a:solidFill>
              <a:srgbClr val="F8FAFC">
                <a:alpha val="7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921240" y="5257800"/>
            <a:ext cx="219456" cy="219456"/>
          </a:xfrm>
          <a:prstGeom prst="ellipse">
            <a:avLst/>
          </a:prstGeom>
          <a:solidFill>
            <a:srgbClr val="F97316"/>
          </a:solidFill>
          <a:ln w="8890">
            <a:solidFill>
              <a:srgbClr val="F8FAFC">
                <a:alpha val="7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1080000">
            <a:off x="7315200" y="1143000"/>
            <a:ext cx="4023360" cy="3977640"/>
          </a:xfrm>
          <a:prstGeom prst="arc">
            <a:avLst/>
          </a:prstGeom>
          <a:solidFill>
            <a:srgbClr val="0F172A">
              <a:alpha val="0"/>
            </a:srgbClr>
          </a:solidFill>
          <a:ln w="15240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920" y="4114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  마무리 / Q&amp;A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058400" y="384048"/>
            <a:ext cx="1664208" cy="36576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058400" y="393192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[완료] FINAL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" y="1417320"/>
            <a:ext cx="6583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재현 가능하고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 가능한 운영 자동화</a:t>
            </a:r>
            <a:endParaRPr lang="en-US" sz="4400" dirty="0"/>
          </a:p>
        </p:txBody>
      </p:sp>
      <p:sp>
        <p:nvSpPr>
          <p:cNvPr id="24" name="Text 22"/>
          <p:cNvSpPr txBox="1"/>
          <p:nvPr/>
        </p:nvSpPr>
        <p:spPr>
          <a:xfrm>
            <a:off x="694944" y="3127248"/>
            <a:ext cx="6995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Team Dandelion은 클라우드 프로비저닝부터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 구성, 관측, 백업·복구, 통합 검증까지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하나의 운영 흐름으로 완성했습니다.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694944" y="4590288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973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Thank You / Q&amp;A</a:t>
            </a:r>
            <a:endParaRPr lang="en-US" sz="3600" dirty="0"/>
          </a:p>
        </p:txBody>
      </p:sp>
      <p:sp>
        <p:nvSpPr>
          <p:cNvPr id="26" name="Text 24"/>
          <p:cNvSpPr txBox="1"/>
          <p:nvPr/>
        </p:nvSpPr>
        <p:spPr>
          <a:xfrm>
            <a:off x="713232" y="5285232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정주헌  ·  백서빈  ·  이진욱  ·  조민석  ·  박재우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11480" y="6190488"/>
            <a:ext cx="11365992" cy="0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38912" y="630021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MESSAGE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1737360" y="6263640"/>
            <a:ext cx="8275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Team Dandelion은 재현 가능하고 검증 가능한 클라우드 운영 자동화를 구현했습니다.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10104120" y="629107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DANDELION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1475720" y="6291072"/>
            <a:ext cx="301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Team Dandelion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Dandelion Cloud Automation Final Report</dc:title>
  <dc:subject>Cloud Operations Command Center final report template</dc:subject>
  <dc:creator>Team Dandelion</dc:creator>
  <cp:lastModifiedBy>Team Dandelion</cp:lastModifiedBy>
  <cp:revision>1</cp:revision>
  <dcterms:created xsi:type="dcterms:W3CDTF">2026-07-10T07:12:29Z</dcterms:created>
  <dcterms:modified xsi:type="dcterms:W3CDTF">2026-07-10T07:12:29Z</dcterms:modified>
</cp:coreProperties>
</file>